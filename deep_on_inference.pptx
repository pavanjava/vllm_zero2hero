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8" r:id="rId3"/>
    <p:sldId id="257" r:id="rId4"/>
    <p:sldId id="264" r:id="rId5"/>
    <p:sldId id="259" r:id="rId6"/>
    <p:sldId id="260" r:id="rId7"/>
    <p:sldId id="261" r:id="rId8"/>
    <p:sldId id="262" r:id="rId9"/>
    <p:sldId id="263"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84863"/>
  </p:normalViewPr>
  <p:slideViewPr>
    <p:cSldViewPr snapToGrid="0">
      <p:cViewPr>
        <p:scale>
          <a:sx n="100" d="100"/>
          <a:sy n="100" d="100"/>
        </p:scale>
        <p:origin x="1192"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22E093-4F56-224A-B3FB-77E43149809F}" type="datetimeFigureOut">
              <a:rPr lang="en-US" smtClean="0"/>
              <a:t>5/9/26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94FF2E-E923-D04D-A47F-B6EB8146CC33}" type="slidenum">
              <a:rPr lang="en-US" smtClean="0"/>
              <a:t>‹#›</a:t>
            </a:fld>
            <a:endParaRPr lang="en-US"/>
          </a:p>
        </p:txBody>
      </p:sp>
    </p:spTree>
    <p:extLst>
      <p:ext uri="{BB962C8B-B14F-4D97-AF65-F5344CB8AC3E}">
        <p14:creationId xmlns:p14="http://schemas.microsoft.com/office/powerpoint/2010/main" val="809847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mellerikat.com/en/blog_tech/Research/vllm#user-content-fn-1-c8ca26"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mellerikat.com/en/blog_tech/Research/vllm#user-content-fn-4-c8ca26" TargetMode="External"/><Relationship Id="rId5" Type="http://schemas.openxmlformats.org/officeDocument/2006/relationships/hyperlink" Target="https://mellerikat.com/en/blog_tech/Research/vllm#user-content-fn-3-c8ca26" TargetMode="External"/><Relationship Id="rId4" Type="http://schemas.openxmlformats.org/officeDocument/2006/relationships/hyperlink" Target="https://mellerikat.com/en/blog_tech/Research/vllm#user-content-fn-2-c8ca26"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94FF2E-E923-D04D-A47F-B6EB8146CC33}" type="slidenum">
              <a:rPr lang="en-US" smtClean="0"/>
              <a:t>2</a:t>
            </a:fld>
            <a:endParaRPr lang="en-US"/>
          </a:p>
        </p:txBody>
      </p:sp>
    </p:spTree>
    <p:extLst>
      <p:ext uri="{BB962C8B-B14F-4D97-AF65-F5344CB8AC3E}">
        <p14:creationId xmlns:p14="http://schemas.microsoft.com/office/powerpoint/2010/main" val="241695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None/>
            </a:pPr>
            <a:r>
              <a:rPr lang="en-IN" b="1" dirty="0"/>
              <a:t>What is vLLM?</a:t>
            </a:r>
          </a:p>
          <a:p>
            <a:pPr rtl="0">
              <a:buNone/>
            </a:pPr>
            <a:r>
              <a:rPr lang="en-IN" dirty="0"/>
              <a:t>vLLM is an open-source LLM inference and serving engine that utilizes a novel memory allocation algorithm called </a:t>
            </a:r>
            <a:r>
              <a:rPr lang="en-IN" b="1" dirty="0" err="1"/>
              <a:t>PagedAttention</a:t>
            </a:r>
            <a:r>
              <a:rPr lang="en-IN" dirty="0"/>
              <a:t>. It can run your models with up to </a:t>
            </a:r>
            <a:r>
              <a:rPr lang="en-IN" b="1" dirty="0"/>
              <a:t>24x</a:t>
            </a:r>
            <a:r>
              <a:rPr lang="en-IN" dirty="0"/>
              <a:t> higher throughput than </a:t>
            </a:r>
            <a:r>
              <a:rPr lang="en-IN" dirty="0" err="1"/>
              <a:t>HuggingFace</a:t>
            </a:r>
            <a:r>
              <a:rPr lang="en-IN" dirty="0"/>
              <a:t> Transformers (HF) and up to </a:t>
            </a:r>
            <a:r>
              <a:rPr lang="en-IN" b="1" dirty="0"/>
              <a:t>3.5x</a:t>
            </a:r>
            <a:r>
              <a:rPr lang="en-IN" dirty="0"/>
              <a:t> higher throughput than </a:t>
            </a:r>
            <a:r>
              <a:rPr lang="en-IN" dirty="0" err="1"/>
              <a:t>HuggingFace</a:t>
            </a:r>
            <a:r>
              <a:rPr lang="en-IN" dirty="0"/>
              <a:t> Text Generation Inference (TGI).</a:t>
            </a:r>
          </a:p>
          <a:p>
            <a:pPr rtl="0">
              <a:buNone/>
            </a:pPr>
            <a:r>
              <a:rPr lang="en-IN" dirty="0"/>
              <a:t>How does vLLM achieve this throughput improvement? Existing systems waste 60%-80% of the KV-Cache (LLM memory), whereas vLLM achieves near-optimal memory usage with a mere waste of under </a:t>
            </a:r>
            <a:r>
              <a:rPr lang="en-IN" b="1" dirty="0"/>
              <a:t>4%</a:t>
            </a:r>
            <a:r>
              <a:rPr lang="en-IN" dirty="0"/>
              <a:t>. Because of this improved memory usage, we require fewer GPUs to achieve the same output, so the throughput is significantly higher than that of other inference engines.</a:t>
            </a:r>
          </a:p>
          <a:p>
            <a:pPr rtl="0">
              <a:buNone/>
            </a:pPr>
            <a:r>
              <a:rPr lang="en-IN" dirty="0"/>
              <a:t>Most people initially interact with </a:t>
            </a:r>
            <a:r>
              <a:rPr lang="en-IN" b="1" dirty="0"/>
              <a:t>cloud-based LLMs</a:t>
            </a:r>
            <a:r>
              <a:rPr lang="en-IN" dirty="0"/>
              <a:t> such as </a:t>
            </a:r>
            <a:r>
              <a:rPr lang="en-IN" b="1" dirty="0"/>
              <a:t>GPT / Gemini / Claude</a:t>
            </a:r>
            <a:r>
              <a:rPr lang="en-IN" dirty="0"/>
              <a:t>. They deliver the best performance available without worrying about model operations — you simply need a URL and an API key. But API usage incurs continuous cost and data must be transmitted externally, introducing security risks for personal or internal corporate data. When usage scales up, a natural question arises:</a:t>
            </a:r>
          </a:p>
          <a:p>
            <a:pPr rtl="0">
              <a:buNone/>
            </a:pPr>
            <a:r>
              <a:rPr lang="en-IN" dirty="0"/>
              <a:t>“Wouldn’t it be better to just deploy the model on our own servers…?”</a:t>
            </a:r>
          </a:p>
          <a:p>
            <a:pPr rtl="0">
              <a:buNone/>
            </a:pPr>
            <a:r>
              <a:rPr lang="en-IN" dirty="0"/>
              <a:t>There are many local LLMs available such as Alibaba’s Qwen and Meta’s LLaMA. As the open-source landscape expands, newer high-performance models are being released at a rapid pace, and the choices are diverse. However, applying them to real services introduces several challenges.</a:t>
            </a:r>
          </a:p>
          <a:p>
            <a:pPr rtl="0">
              <a:buNone/>
            </a:pPr>
            <a:r>
              <a:rPr lang="en-IN" dirty="0"/>
              <a:t>Running an LLM as-is results in very slow inference. This is due to the autoregressive nature of modern LLMs. There are optimizations like KV Cache and Paged Attention that dramatically reduce inference time. Several open-source serving engines implement these ideas — </a:t>
            </a:r>
            <a:r>
              <a:rPr lang="en-IN" b="1" dirty="0"/>
              <a:t>We uses vLLM</a:t>
            </a:r>
            <a:r>
              <a:rPr lang="en-IN" dirty="0"/>
              <a:t>. Each engine differs in model support and ease of use. Let’s explore why EVA chose vLLM.</a:t>
            </a:r>
          </a:p>
          <a:p>
            <a:pPr rtl="0">
              <a:buNone/>
            </a:pPr>
            <a:r>
              <a:rPr lang="en-IN" b="1" dirty="0"/>
              <a:t>2. Why vLLM?</a:t>
            </a:r>
          </a:p>
          <a:p>
            <a:pPr rtl="0">
              <a:buNone/>
            </a:pPr>
            <a:r>
              <a:rPr lang="en-IN" dirty="0"/>
              <a:t>When evaluating LLM serving engines, we focused on three criteria:</a:t>
            </a:r>
          </a:p>
          <a:p>
            <a:pPr rtl="0">
              <a:buFont typeface="Arial" panose="020B0604020202020204" pitchFamily="34" charset="0"/>
              <a:buChar char="•"/>
            </a:pPr>
            <a:r>
              <a:rPr lang="en-IN" dirty="0"/>
              <a:t>Supports many models</a:t>
            </a:r>
          </a:p>
          <a:p>
            <a:pPr rtl="0">
              <a:buFont typeface="Arial" panose="020B0604020202020204" pitchFamily="34" charset="0"/>
              <a:buChar char="•"/>
            </a:pPr>
            <a:r>
              <a:rPr lang="en-IN" dirty="0"/>
              <a:t>Operates easily</a:t>
            </a:r>
          </a:p>
          <a:p>
            <a:pPr rtl="0">
              <a:buFont typeface="Arial" panose="020B0604020202020204" pitchFamily="34" charset="0"/>
              <a:buChar char="•"/>
            </a:pPr>
            <a:r>
              <a:rPr lang="en-IN" dirty="0"/>
              <a:t>Provides reasonable performance for real services</a:t>
            </a:r>
          </a:p>
          <a:p>
            <a:pPr rtl="0">
              <a:buNone/>
            </a:pPr>
            <a:r>
              <a:rPr lang="en-IN" dirty="0"/>
              <a:t>Among many serving engines, we shortlisted </a:t>
            </a:r>
            <a:r>
              <a:rPr lang="en-IN" b="1" dirty="0"/>
              <a:t>vLLM, LM Deploy, and </a:t>
            </a:r>
            <a:r>
              <a:rPr lang="en-IN" b="1" dirty="0" err="1"/>
              <a:t>TensorRT</a:t>
            </a:r>
            <a:r>
              <a:rPr lang="en-IN" b="1" dirty="0"/>
              <a:t>-LLM</a:t>
            </a:r>
            <a:r>
              <a:rPr lang="en-IN" dirty="0"/>
              <a:t>, and ultimately selected </a:t>
            </a:r>
            <a:r>
              <a:rPr lang="en-IN" b="1" dirty="0"/>
              <a:t>vLLM</a:t>
            </a:r>
            <a:r>
              <a:rPr lang="en-IN" dirty="0"/>
              <a:t>. vLLM supports the largest variety of Hugging Face models and provides stable performance </a:t>
            </a:r>
            <a:r>
              <a:rPr lang="en-IN" b="1" dirty="0"/>
              <a:t>without model conversion</a:t>
            </a:r>
            <a:r>
              <a:rPr lang="en-IN" dirty="0"/>
              <a:t>. We also considered LM Deploy and </a:t>
            </a:r>
            <a:r>
              <a:rPr lang="en-IN" dirty="0" err="1"/>
              <a:t>TensorRT</a:t>
            </a:r>
            <a:r>
              <a:rPr lang="en-IN" dirty="0"/>
              <a:t>-LLM, which score higher in external benchmarks, but:</a:t>
            </a:r>
          </a:p>
          <a:p>
            <a:pPr rtl="0">
              <a:buFont typeface="Arial" panose="020B0604020202020204" pitchFamily="34" charset="0"/>
              <a:buChar char="•"/>
            </a:pPr>
            <a:r>
              <a:rPr lang="en-IN" dirty="0"/>
              <a:t>LM Deploy supports fewer models</a:t>
            </a:r>
          </a:p>
          <a:p>
            <a:pPr rtl="0">
              <a:buFont typeface="Arial" panose="020B0604020202020204" pitchFamily="34" charset="0"/>
              <a:buChar char="•"/>
            </a:pPr>
            <a:r>
              <a:rPr lang="en-IN" dirty="0" err="1"/>
              <a:t>TensorRT</a:t>
            </a:r>
            <a:r>
              <a:rPr lang="en-IN" dirty="0"/>
              <a:t>-LLM requires </a:t>
            </a:r>
            <a:r>
              <a:rPr lang="en-IN" b="1" dirty="0"/>
              <a:t>dedicated model conversion</a:t>
            </a:r>
            <a:endParaRPr lang="en-IN" dirty="0"/>
          </a:p>
          <a:p>
            <a:pPr rtl="0">
              <a:buNone/>
            </a:pPr>
            <a:r>
              <a:rPr lang="en-IN" dirty="0"/>
              <a:t>When comparing serving engines, the main criteria are:</a:t>
            </a:r>
          </a:p>
          <a:p>
            <a:pPr rtl="0">
              <a:buFont typeface="Arial" panose="020B0604020202020204" pitchFamily="34" charset="0"/>
              <a:buChar char="•"/>
            </a:pPr>
            <a:r>
              <a:rPr lang="en-IN" b="1" dirty="0"/>
              <a:t>Throughput</a:t>
            </a:r>
            <a:endParaRPr lang="en-IN" dirty="0"/>
          </a:p>
          <a:p>
            <a:pPr rtl="0">
              <a:buFont typeface="Arial" panose="020B0604020202020204" pitchFamily="34" charset="0"/>
              <a:buChar char="•"/>
            </a:pPr>
            <a:r>
              <a:rPr lang="en-IN" b="1" dirty="0"/>
              <a:t>TTFT (Time To First Token)</a:t>
            </a:r>
            <a:endParaRPr lang="en-IN" dirty="0"/>
          </a:p>
          <a:p>
            <a:pPr rtl="0">
              <a:buNone/>
            </a:pPr>
            <a:r>
              <a:rPr lang="en-IN" dirty="0"/>
              <a:t>Throughput measures </a:t>
            </a:r>
            <a:r>
              <a:rPr lang="en-IN" b="1" dirty="0"/>
              <a:t>how many tokens/requests per second</a:t>
            </a:r>
            <a:r>
              <a:rPr lang="en-IN" dirty="0"/>
              <a:t> the GPU can generate — “how much the GPU worked within a second.”</a:t>
            </a:r>
          </a:p>
          <a:p>
            <a:pPr rtl="0">
              <a:buNone/>
            </a:pPr>
            <a:r>
              <a:rPr lang="en-IN" b="1" dirty="0"/>
              <a:t>TTFT (Time To First Token)</a:t>
            </a:r>
            <a:r>
              <a:rPr lang="en-IN" dirty="0"/>
              <a:t> is the time between sending a request and receiving the </a:t>
            </a:r>
            <a:r>
              <a:rPr lang="en-IN" b="1" dirty="0"/>
              <a:t>first token</a:t>
            </a:r>
            <a:r>
              <a:rPr lang="en-IN" dirty="0"/>
              <a:t>. This directly affects user-perceived latency — often the most important UX metric.</a:t>
            </a:r>
          </a:p>
          <a:p>
            <a:pPr rtl="0">
              <a:buNone/>
            </a:pPr>
            <a:r>
              <a:rPr lang="en-IN" dirty="0"/>
              <a:t>vLLM has </a:t>
            </a:r>
            <a:r>
              <a:rPr lang="en-IN" b="1" dirty="0"/>
              <a:t>a strong advantage in maintaining low TTFT</a:t>
            </a:r>
            <a:r>
              <a:rPr lang="en-IN" dirty="0"/>
              <a:t>. In a benchmark by </a:t>
            </a:r>
            <a:r>
              <a:rPr lang="en-IN" dirty="0" err="1"/>
              <a:t>BentoML</a:t>
            </a:r>
            <a:r>
              <a:rPr lang="en-IN" dirty="0"/>
              <a:t> using Llama 3 8B/70B under identical conditions:</a:t>
            </a:r>
          </a:p>
          <a:p>
            <a:pPr rtl="0">
              <a:buFont typeface="Arial" panose="020B0604020202020204" pitchFamily="34" charset="0"/>
              <a:buChar char="•"/>
            </a:pPr>
            <a:r>
              <a:rPr lang="en-IN" dirty="0"/>
              <a:t>LM Deploy provided higher throughput</a:t>
            </a:r>
          </a:p>
          <a:p>
            <a:pPr rtl="0">
              <a:buFont typeface="Arial" panose="020B0604020202020204" pitchFamily="34" charset="0"/>
              <a:buChar char="•"/>
            </a:pPr>
            <a:r>
              <a:rPr lang="en-IN" dirty="0"/>
              <a:t>vLLM kept </a:t>
            </a:r>
            <a:r>
              <a:rPr lang="en-IN" b="1" dirty="0"/>
              <a:t>the lowest TTFT under every load condition</a:t>
            </a:r>
            <a:r>
              <a:rPr lang="en-IN" dirty="0">
                <a:hlinkClick r:id="rId3"/>
              </a:rPr>
              <a:t>1</a:t>
            </a:r>
            <a:endParaRPr lang="en-IN" dirty="0"/>
          </a:p>
          <a:p>
            <a:pPr rtl="0">
              <a:buNone/>
            </a:pPr>
            <a:r>
              <a:rPr lang="en-IN" dirty="0"/>
              <a:t>Other benchmarks also show:</a:t>
            </a:r>
          </a:p>
          <a:p>
            <a:pPr rtl="0">
              <a:buFont typeface="Arial" panose="020B0604020202020204" pitchFamily="34" charset="0"/>
              <a:buChar char="•"/>
            </a:pPr>
            <a:r>
              <a:rPr lang="en-IN" dirty="0"/>
              <a:t>Each engine has strengths depending on the metric and situation</a:t>
            </a:r>
            <a:r>
              <a:rPr lang="en-IN" dirty="0">
                <a:hlinkClick r:id="rId4"/>
              </a:rPr>
              <a:t>2</a:t>
            </a:r>
            <a:r>
              <a:rPr lang="en-IN" dirty="0">
                <a:hlinkClick r:id="rId5"/>
              </a:rPr>
              <a:t>3</a:t>
            </a:r>
            <a:endParaRPr lang="en-IN" dirty="0"/>
          </a:p>
          <a:p>
            <a:pPr rtl="0">
              <a:buNone/>
            </a:pPr>
            <a:r>
              <a:rPr lang="en-IN" dirty="0"/>
              <a:t>EVA continuously updates its selection of cost-efficient open-source models. Among the three engines, </a:t>
            </a:r>
            <a:r>
              <a:rPr lang="en-IN" b="1" dirty="0"/>
              <a:t>vLLM supports the most LLM architectures</a:t>
            </a:r>
            <a:r>
              <a:rPr lang="en-IN" dirty="0"/>
              <a:t>, including Embedding models and Mamba</a:t>
            </a:r>
            <a:r>
              <a:rPr lang="en-IN" dirty="0">
                <a:hlinkClick r:id="rId6"/>
              </a:rPr>
              <a:t>4</a:t>
            </a:r>
            <a:r>
              <a:rPr lang="en-IN" dirty="0"/>
              <a:t>.</a:t>
            </a:r>
          </a:p>
          <a:p>
            <a:pPr rtl="0">
              <a:buNone/>
            </a:pPr>
            <a:r>
              <a:rPr lang="en-IN" dirty="0"/>
              <a:t>Finally, </a:t>
            </a:r>
            <a:r>
              <a:rPr lang="en-IN" b="1" dirty="0"/>
              <a:t>ease of operation</a:t>
            </a:r>
            <a:r>
              <a:rPr lang="en-IN" dirty="0"/>
              <a:t> matters:</a:t>
            </a:r>
          </a:p>
          <a:p>
            <a:pPr rtl="0">
              <a:buFont typeface="Arial" panose="020B0604020202020204" pitchFamily="34" charset="0"/>
              <a:buChar char="•"/>
            </a:pPr>
            <a:r>
              <a:rPr lang="en-IN" dirty="0"/>
              <a:t>With vLLM, </a:t>
            </a:r>
            <a:r>
              <a:rPr lang="en-IN" b="1" dirty="0"/>
              <a:t>just change the HF repo name</a:t>
            </a:r>
            <a:endParaRPr lang="en-IN" dirty="0"/>
          </a:p>
          <a:p>
            <a:pPr rtl="0">
              <a:buFont typeface="Arial" panose="020B0604020202020204" pitchFamily="34" charset="0"/>
              <a:buChar char="•"/>
            </a:pPr>
            <a:r>
              <a:rPr lang="en-IN" dirty="0"/>
              <a:t>Other engines → conversion and extra operational burden</a:t>
            </a:r>
          </a:p>
          <a:p>
            <a:endParaRPr lang="en-US" dirty="0"/>
          </a:p>
        </p:txBody>
      </p:sp>
      <p:sp>
        <p:nvSpPr>
          <p:cNvPr id="4" name="Slide Number Placeholder 3"/>
          <p:cNvSpPr>
            <a:spLocks noGrp="1"/>
          </p:cNvSpPr>
          <p:nvPr>
            <p:ph type="sldNum" sz="quarter" idx="5"/>
          </p:nvPr>
        </p:nvSpPr>
        <p:spPr/>
        <p:txBody>
          <a:bodyPr/>
          <a:lstStyle/>
          <a:p>
            <a:fld id="{EC94FF2E-E923-D04D-A47F-B6EB8146CC33}" type="slidenum">
              <a:rPr lang="en-US" smtClean="0"/>
              <a:t>3</a:t>
            </a:fld>
            <a:endParaRPr lang="en-US"/>
          </a:p>
        </p:txBody>
      </p:sp>
    </p:spTree>
    <p:extLst>
      <p:ext uri="{BB962C8B-B14F-4D97-AF65-F5344CB8AC3E}">
        <p14:creationId xmlns:p14="http://schemas.microsoft.com/office/powerpoint/2010/main" val="1607646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B9054-671C-7699-3D9D-2E6C08525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6B7327-1832-FAE6-6219-1282DD717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381A79-DCF2-3529-1ABF-8749120E27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36F9F7-FB96-8DAA-95C6-9E2EC1FB6407}"/>
              </a:ext>
            </a:extLst>
          </p:cNvPr>
          <p:cNvSpPr>
            <a:spLocks noGrp="1"/>
          </p:cNvSpPr>
          <p:nvPr>
            <p:ph type="sldNum" sz="quarter" idx="5"/>
          </p:nvPr>
        </p:nvSpPr>
        <p:spPr/>
        <p:txBody>
          <a:bodyPr/>
          <a:lstStyle/>
          <a:p>
            <a:fld id="{EC94FF2E-E923-D04D-A47F-B6EB8146CC33}" type="slidenum">
              <a:rPr lang="en-US" smtClean="0"/>
              <a:t>4</a:t>
            </a:fld>
            <a:endParaRPr lang="en-US"/>
          </a:p>
        </p:txBody>
      </p:sp>
    </p:spTree>
    <p:extLst>
      <p:ext uri="{BB962C8B-B14F-4D97-AF65-F5344CB8AC3E}">
        <p14:creationId xmlns:p14="http://schemas.microsoft.com/office/powerpoint/2010/main" val="2386394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94FF2E-E923-D04D-A47F-B6EB8146CC33}" type="slidenum">
              <a:rPr lang="en-US" smtClean="0"/>
              <a:t>6</a:t>
            </a:fld>
            <a:endParaRPr lang="en-US"/>
          </a:p>
        </p:txBody>
      </p:sp>
    </p:spTree>
    <p:extLst>
      <p:ext uri="{BB962C8B-B14F-4D97-AF65-F5344CB8AC3E}">
        <p14:creationId xmlns:p14="http://schemas.microsoft.com/office/powerpoint/2010/main" val="1733273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C5CB1-878B-777D-5F22-98C9D8A1E7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233660-598B-C76A-D055-0A6B14BCD7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0A9F0E-52D7-2E50-48C3-B7FCB9A902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FA77F8-67F5-BEF6-1685-CC282BE0B03E}"/>
              </a:ext>
            </a:extLst>
          </p:cNvPr>
          <p:cNvSpPr>
            <a:spLocks noGrp="1"/>
          </p:cNvSpPr>
          <p:nvPr>
            <p:ph type="sldNum" sz="quarter" idx="5"/>
          </p:nvPr>
        </p:nvSpPr>
        <p:spPr/>
        <p:txBody>
          <a:bodyPr/>
          <a:lstStyle/>
          <a:p>
            <a:fld id="{EC94FF2E-E923-D04D-A47F-B6EB8146CC33}" type="slidenum">
              <a:rPr lang="en-US" smtClean="0"/>
              <a:t>7</a:t>
            </a:fld>
            <a:endParaRPr lang="en-US"/>
          </a:p>
        </p:txBody>
      </p:sp>
    </p:spTree>
    <p:extLst>
      <p:ext uri="{BB962C8B-B14F-4D97-AF65-F5344CB8AC3E}">
        <p14:creationId xmlns:p14="http://schemas.microsoft.com/office/powerpoint/2010/main" val="2388585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C2711-D7FF-25C7-19BC-5A3BB8ECA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44F3C1-BDF6-FB90-5065-86D45CE1B6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C5406E-1A02-CCFF-E8A4-DD0319A1C5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224A77-B229-D513-D5CC-D222721362FF}"/>
              </a:ext>
            </a:extLst>
          </p:cNvPr>
          <p:cNvSpPr>
            <a:spLocks noGrp="1"/>
          </p:cNvSpPr>
          <p:nvPr>
            <p:ph type="sldNum" sz="quarter" idx="5"/>
          </p:nvPr>
        </p:nvSpPr>
        <p:spPr/>
        <p:txBody>
          <a:bodyPr/>
          <a:lstStyle/>
          <a:p>
            <a:fld id="{EC94FF2E-E923-D04D-A47F-B6EB8146CC33}" type="slidenum">
              <a:rPr lang="en-US" smtClean="0"/>
              <a:t>8</a:t>
            </a:fld>
            <a:endParaRPr lang="en-US"/>
          </a:p>
        </p:txBody>
      </p:sp>
    </p:spTree>
    <p:extLst>
      <p:ext uri="{BB962C8B-B14F-4D97-AF65-F5344CB8AC3E}">
        <p14:creationId xmlns:p14="http://schemas.microsoft.com/office/powerpoint/2010/main" val="3653164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666D-75C6-7F7B-78D2-4DD6F54E1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4FB7A-863E-D9B1-C89A-1F826913D4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437168-2795-722F-B4EF-A2AA81F75F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2363E8-4535-B75E-9731-B115E7788DC7}"/>
              </a:ext>
            </a:extLst>
          </p:cNvPr>
          <p:cNvSpPr>
            <a:spLocks noGrp="1"/>
          </p:cNvSpPr>
          <p:nvPr>
            <p:ph type="sldNum" sz="quarter" idx="5"/>
          </p:nvPr>
        </p:nvSpPr>
        <p:spPr/>
        <p:txBody>
          <a:bodyPr/>
          <a:lstStyle/>
          <a:p>
            <a:fld id="{EC94FF2E-E923-D04D-A47F-B6EB8146CC33}" type="slidenum">
              <a:rPr lang="en-US" smtClean="0"/>
              <a:t>9</a:t>
            </a:fld>
            <a:endParaRPr lang="en-US"/>
          </a:p>
        </p:txBody>
      </p:sp>
    </p:spTree>
    <p:extLst>
      <p:ext uri="{BB962C8B-B14F-4D97-AF65-F5344CB8AC3E}">
        <p14:creationId xmlns:p14="http://schemas.microsoft.com/office/powerpoint/2010/main" val="4110271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5F2A7-FA39-A2EE-64A2-8994C3613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CA1FF-607D-2FBE-9DB1-B639BBC11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EB21AA-CBA2-4F99-56AB-8373444051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29BBD5-8594-F3DA-24A9-2B458BF599A5}"/>
              </a:ext>
            </a:extLst>
          </p:cNvPr>
          <p:cNvSpPr>
            <a:spLocks noGrp="1"/>
          </p:cNvSpPr>
          <p:nvPr>
            <p:ph type="sldNum" sz="quarter" idx="5"/>
          </p:nvPr>
        </p:nvSpPr>
        <p:spPr/>
        <p:txBody>
          <a:bodyPr/>
          <a:lstStyle/>
          <a:p>
            <a:fld id="{EC94FF2E-E923-D04D-A47F-B6EB8146CC33}" type="slidenum">
              <a:rPr lang="en-US" smtClean="0"/>
              <a:t>10</a:t>
            </a:fld>
            <a:endParaRPr lang="en-US"/>
          </a:p>
        </p:txBody>
      </p:sp>
    </p:spTree>
    <p:extLst>
      <p:ext uri="{BB962C8B-B14F-4D97-AF65-F5344CB8AC3E}">
        <p14:creationId xmlns:p14="http://schemas.microsoft.com/office/powerpoint/2010/main" val="41411309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997E1-B605-D680-FBC3-72925C124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EB0C2-344D-220D-F639-EB8F99BCAA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8D4FB-0A99-96FB-BE3A-F410971E6E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2222DE-6DDB-F2F0-C624-9ED28706A6D0}"/>
              </a:ext>
            </a:extLst>
          </p:cNvPr>
          <p:cNvSpPr>
            <a:spLocks noGrp="1"/>
          </p:cNvSpPr>
          <p:nvPr>
            <p:ph type="sldNum" sz="quarter" idx="5"/>
          </p:nvPr>
        </p:nvSpPr>
        <p:spPr/>
        <p:txBody>
          <a:bodyPr/>
          <a:lstStyle/>
          <a:p>
            <a:fld id="{EC94FF2E-E923-D04D-A47F-B6EB8146CC33}" type="slidenum">
              <a:rPr lang="en-US" smtClean="0"/>
              <a:t>11</a:t>
            </a:fld>
            <a:endParaRPr lang="en-US"/>
          </a:p>
        </p:txBody>
      </p:sp>
    </p:spTree>
    <p:extLst>
      <p:ext uri="{BB962C8B-B14F-4D97-AF65-F5344CB8AC3E}">
        <p14:creationId xmlns:p14="http://schemas.microsoft.com/office/powerpoint/2010/main" val="1930417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E683F-D896-230F-9884-00E8CB469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691DFD-A6FF-4539-0599-A427283C25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4E8A66-F401-F05D-8011-89C5467F91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9A53DB-91F3-19EF-6FAC-8197DA48D23E}"/>
              </a:ext>
            </a:extLst>
          </p:cNvPr>
          <p:cNvSpPr>
            <a:spLocks noGrp="1"/>
          </p:cNvSpPr>
          <p:nvPr>
            <p:ph type="sldNum" sz="quarter" idx="5"/>
          </p:nvPr>
        </p:nvSpPr>
        <p:spPr/>
        <p:txBody>
          <a:bodyPr/>
          <a:lstStyle/>
          <a:p>
            <a:fld id="{EC94FF2E-E923-D04D-A47F-B6EB8146CC33}" type="slidenum">
              <a:rPr lang="en-US" smtClean="0"/>
              <a:t>12</a:t>
            </a:fld>
            <a:endParaRPr lang="en-US"/>
          </a:p>
        </p:txBody>
      </p:sp>
    </p:spTree>
    <p:extLst>
      <p:ext uri="{BB962C8B-B14F-4D97-AF65-F5344CB8AC3E}">
        <p14:creationId xmlns:p14="http://schemas.microsoft.com/office/powerpoint/2010/main" val="3663337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78374-19AD-A049-21A9-B7A72EE5CB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D4E75D-5E92-B783-8AA8-67AC8EFD2C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8D340C-9066-6336-09B5-194E37B704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66F22E-B861-4BBF-6A46-11F924806C0D}"/>
              </a:ext>
            </a:extLst>
          </p:cNvPr>
          <p:cNvSpPr>
            <a:spLocks noGrp="1"/>
          </p:cNvSpPr>
          <p:nvPr>
            <p:ph type="sldNum" sz="quarter" idx="5"/>
          </p:nvPr>
        </p:nvSpPr>
        <p:spPr/>
        <p:txBody>
          <a:bodyPr/>
          <a:lstStyle/>
          <a:p>
            <a:fld id="{EC94FF2E-E923-D04D-A47F-B6EB8146CC33}" type="slidenum">
              <a:rPr lang="en-US" smtClean="0"/>
              <a:t>13</a:t>
            </a:fld>
            <a:endParaRPr lang="en-US"/>
          </a:p>
        </p:txBody>
      </p:sp>
    </p:spTree>
    <p:extLst>
      <p:ext uri="{BB962C8B-B14F-4D97-AF65-F5344CB8AC3E}">
        <p14:creationId xmlns:p14="http://schemas.microsoft.com/office/powerpoint/2010/main" val="3075487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992F-D560-9F27-E37B-206F7C5A0F1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C064DAC-04A9-EAD9-3810-EF35BEA445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F989147-7689-C718-27F9-FCDFF08B0719}"/>
              </a:ext>
            </a:extLst>
          </p:cNvPr>
          <p:cNvSpPr>
            <a:spLocks noGrp="1"/>
          </p:cNvSpPr>
          <p:nvPr>
            <p:ph type="dt" sz="half" idx="10"/>
          </p:nvPr>
        </p:nvSpPr>
        <p:spPr/>
        <p:txBody>
          <a:bodyPr/>
          <a:lstStyle/>
          <a:p>
            <a:fld id="{81D72ABF-1F2B-AD4C-9E41-CE0BCAD2C17D}" type="datetimeFigureOut">
              <a:rPr lang="en-US" smtClean="0"/>
              <a:t>5/9/26</a:t>
            </a:fld>
            <a:endParaRPr lang="en-US"/>
          </a:p>
        </p:txBody>
      </p:sp>
      <p:sp>
        <p:nvSpPr>
          <p:cNvPr id="5" name="Footer Placeholder 4">
            <a:extLst>
              <a:ext uri="{FF2B5EF4-FFF2-40B4-BE49-F238E27FC236}">
                <a16:creationId xmlns:a16="http://schemas.microsoft.com/office/drawing/2014/main" id="{15A60F0D-4DAB-88C1-2CEA-B56767B858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5D270A-FBE3-D622-A0AF-62B25745876B}"/>
              </a:ext>
            </a:extLst>
          </p:cNvPr>
          <p:cNvSpPr>
            <a:spLocks noGrp="1"/>
          </p:cNvSpPr>
          <p:nvPr>
            <p:ph type="sldNum" sz="quarter" idx="12"/>
          </p:nvPr>
        </p:nvSpPr>
        <p:spPr/>
        <p:txBody>
          <a:bodyPr/>
          <a:lstStyle/>
          <a:p>
            <a:fld id="{C3AB3A00-B7E9-BA44-95DC-C10D820C5D90}" type="slidenum">
              <a:rPr lang="en-US" smtClean="0"/>
              <a:t>‹#›</a:t>
            </a:fld>
            <a:endParaRPr lang="en-US"/>
          </a:p>
        </p:txBody>
      </p:sp>
    </p:spTree>
    <p:extLst>
      <p:ext uri="{BB962C8B-B14F-4D97-AF65-F5344CB8AC3E}">
        <p14:creationId xmlns:p14="http://schemas.microsoft.com/office/powerpoint/2010/main" val="2970332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FBAA8-BA83-4331-3531-B4404B8044F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AEE886B-0624-B03D-033E-772F2AC1BEA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2EE28F8-2873-7047-A1B5-B36B6933B375}"/>
              </a:ext>
            </a:extLst>
          </p:cNvPr>
          <p:cNvSpPr>
            <a:spLocks noGrp="1"/>
          </p:cNvSpPr>
          <p:nvPr>
            <p:ph type="dt" sz="half" idx="10"/>
          </p:nvPr>
        </p:nvSpPr>
        <p:spPr/>
        <p:txBody>
          <a:bodyPr/>
          <a:lstStyle/>
          <a:p>
            <a:fld id="{81D72ABF-1F2B-AD4C-9E41-CE0BCAD2C17D}" type="datetimeFigureOut">
              <a:rPr lang="en-US" smtClean="0"/>
              <a:t>5/9/26</a:t>
            </a:fld>
            <a:endParaRPr lang="en-US"/>
          </a:p>
        </p:txBody>
      </p:sp>
      <p:sp>
        <p:nvSpPr>
          <p:cNvPr id="5" name="Footer Placeholder 4">
            <a:extLst>
              <a:ext uri="{FF2B5EF4-FFF2-40B4-BE49-F238E27FC236}">
                <a16:creationId xmlns:a16="http://schemas.microsoft.com/office/drawing/2014/main" id="{2625360A-BA65-84D6-FED3-0EA6458EDC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B64DE8-0F08-822F-8BEC-8A84DD9C8232}"/>
              </a:ext>
            </a:extLst>
          </p:cNvPr>
          <p:cNvSpPr>
            <a:spLocks noGrp="1"/>
          </p:cNvSpPr>
          <p:nvPr>
            <p:ph type="sldNum" sz="quarter" idx="12"/>
          </p:nvPr>
        </p:nvSpPr>
        <p:spPr/>
        <p:txBody>
          <a:bodyPr/>
          <a:lstStyle/>
          <a:p>
            <a:fld id="{C3AB3A00-B7E9-BA44-95DC-C10D820C5D90}" type="slidenum">
              <a:rPr lang="en-US" smtClean="0"/>
              <a:t>‹#›</a:t>
            </a:fld>
            <a:endParaRPr lang="en-US"/>
          </a:p>
        </p:txBody>
      </p:sp>
    </p:spTree>
    <p:extLst>
      <p:ext uri="{BB962C8B-B14F-4D97-AF65-F5344CB8AC3E}">
        <p14:creationId xmlns:p14="http://schemas.microsoft.com/office/powerpoint/2010/main" val="541425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51C10-A954-BFE5-E029-FB0219B2DC1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F101DF1-9E56-CD06-DBC6-DC8F395753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66EFD15-75FC-E4A3-6845-F71E44E06AB8}"/>
              </a:ext>
            </a:extLst>
          </p:cNvPr>
          <p:cNvSpPr>
            <a:spLocks noGrp="1"/>
          </p:cNvSpPr>
          <p:nvPr>
            <p:ph type="dt" sz="half" idx="10"/>
          </p:nvPr>
        </p:nvSpPr>
        <p:spPr/>
        <p:txBody>
          <a:bodyPr/>
          <a:lstStyle/>
          <a:p>
            <a:fld id="{81D72ABF-1F2B-AD4C-9E41-CE0BCAD2C17D}" type="datetimeFigureOut">
              <a:rPr lang="en-US" smtClean="0"/>
              <a:t>5/9/26</a:t>
            </a:fld>
            <a:endParaRPr lang="en-US"/>
          </a:p>
        </p:txBody>
      </p:sp>
      <p:sp>
        <p:nvSpPr>
          <p:cNvPr id="5" name="Footer Placeholder 4">
            <a:extLst>
              <a:ext uri="{FF2B5EF4-FFF2-40B4-BE49-F238E27FC236}">
                <a16:creationId xmlns:a16="http://schemas.microsoft.com/office/drawing/2014/main" id="{F25B1471-017C-82DD-F5B2-3B4AE3B98F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47F3B6-1C0F-AE75-8F17-F535E2D3FB2B}"/>
              </a:ext>
            </a:extLst>
          </p:cNvPr>
          <p:cNvSpPr>
            <a:spLocks noGrp="1"/>
          </p:cNvSpPr>
          <p:nvPr>
            <p:ph type="sldNum" sz="quarter" idx="12"/>
          </p:nvPr>
        </p:nvSpPr>
        <p:spPr/>
        <p:txBody>
          <a:bodyPr/>
          <a:lstStyle/>
          <a:p>
            <a:fld id="{C3AB3A00-B7E9-BA44-95DC-C10D820C5D90}" type="slidenum">
              <a:rPr lang="en-US" smtClean="0"/>
              <a:t>‹#›</a:t>
            </a:fld>
            <a:endParaRPr lang="en-US"/>
          </a:p>
        </p:txBody>
      </p:sp>
    </p:spTree>
    <p:extLst>
      <p:ext uri="{BB962C8B-B14F-4D97-AF65-F5344CB8AC3E}">
        <p14:creationId xmlns:p14="http://schemas.microsoft.com/office/powerpoint/2010/main" val="2433461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275E3-E1D1-F83E-C2C1-7EEBA2EDD40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C71AB8E-4A9C-4C24-42E3-E311F2EB74D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35020F2-D9A6-BAB1-08B6-82ECACEA9D0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2327982-8BEE-A4AF-98D9-A375013C629A}"/>
              </a:ext>
            </a:extLst>
          </p:cNvPr>
          <p:cNvSpPr>
            <a:spLocks noGrp="1"/>
          </p:cNvSpPr>
          <p:nvPr>
            <p:ph type="dt" sz="half" idx="10"/>
          </p:nvPr>
        </p:nvSpPr>
        <p:spPr/>
        <p:txBody>
          <a:bodyPr/>
          <a:lstStyle/>
          <a:p>
            <a:fld id="{81D72ABF-1F2B-AD4C-9E41-CE0BCAD2C17D}" type="datetimeFigureOut">
              <a:rPr lang="en-US" smtClean="0"/>
              <a:t>5/9/26</a:t>
            </a:fld>
            <a:endParaRPr lang="en-US"/>
          </a:p>
        </p:txBody>
      </p:sp>
      <p:sp>
        <p:nvSpPr>
          <p:cNvPr id="6" name="Footer Placeholder 5">
            <a:extLst>
              <a:ext uri="{FF2B5EF4-FFF2-40B4-BE49-F238E27FC236}">
                <a16:creationId xmlns:a16="http://schemas.microsoft.com/office/drawing/2014/main" id="{E19FB3A7-F76D-621D-B4BD-DCB82C4F6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86A26B-51A9-559D-67AB-06F97B02BD26}"/>
              </a:ext>
            </a:extLst>
          </p:cNvPr>
          <p:cNvSpPr>
            <a:spLocks noGrp="1"/>
          </p:cNvSpPr>
          <p:nvPr>
            <p:ph type="sldNum" sz="quarter" idx="12"/>
          </p:nvPr>
        </p:nvSpPr>
        <p:spPr/>
        <p:txBody>
          <a:bodyPr/>
          <a:lstStyle/>
          <a:p>
            <a:fld id="{C3AB3A00-B7E9-BA44-95DC-C10D820C5D90}" type="slidenum">
              <a:rPr lang="en-US" smtClean="0"/>
              <a:t>‹#›</a:t>
            </a:fld>
            <a:endParaRPr lang="en-US"/>
          </a:p>
        </p:txBody>
      </p:sp>
    </p:spTree>
    <p:extLst>
      <p:ext uri="{BB962C8B-B14F-4D97-AF65-F5344CB8AC3E}">
        <p14:creationId xmlns:p14="http://schemas.microsoft.com/office/powerpoint/2010/main" val="4022756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430B3-FAE3-E9EB-F6F6-FD2E8DB75E4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9FAC06F-DC3D-AE99-0C32-FAF0F4684F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CC8FFA6-FB36-5ADB-2FE0-35C99F612B9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92AF121-62D0-FB6B-F63C-4387DCCFB3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D57C3FE-3235-8E9D-E9DA-368A56BC414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B3D24A6-FACC-A600-F009-51871259E655}"/>
              </a:ext>
            </a:extLst>
          </p:cNvPr>
          <p:cNvSpPr>
            <a:spLocks noGrp="1"/>
          </p:cNvSpPr>
          <p:nvPr>
            <p:ph type="dt" sz="half" idx="10"/>
          </p:nvPr>
        </p:nvSpPr>
        <p:spPr/>
        <p:txBody>
          <a:bodyPr/>
          <a:lstStyle/>
          <a:p>
            <a:fld id="{81D72ABF-1F2B-AD4C-9E41-CE0BCAD2C17D}" type="datetimeFigureOut">
              <a:rPr lang="en-US" smtClean="0"/>
              <a:t>5/9/26</a:t>
            </a:fld>
            <a:endParaRPr lang="en-US"/>
          </a:p>
        </p:txBody>
      </p:sp>
      <p:sp>
        <p:nvSpPr>
          <p:cNvPr id="8" name="Footer Placeholder 7">
            <a:extLst>
              <a:ext uri="{FF2B5EF4-FFF2-40B4-BE49-F238E27FC236}">
                <a16:creationId xmlns:a16="http://schemas.microsoft.com/office/drawing/2014/main" id="{7663189A-9655-F505-9DE4-13034C3AC2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90B83A-69F6-CFB7-3A90-8806B9FDBC0A}"/>
              </a:ext>
            </a:extLst>
          </p:cNvPr>
          <p:cNvSpPr>
            <a:spLocks noGrp="1"/>
          </p:cNvSpPr>
          <p:nvPr>
            <p:ph type="sldNum" sz="quarter" idx="12"/>
          </p:nvPr>
        </p:nvSpPr>
        <p:spPr/>
        <p:txBody>
          <a:bodyPr/>
          <a:lstStyle/>
          <a:p>
            <a:fld id="{C3AB3A00-B7E9-BA44-95DC-C10D820C5D90}" type="slidenum">
              <a:rPr lang="en-US" smtClean="0"/>
              <a:t>‹#›</a:t>
            </a:fld>
            <a:endParaRPr lang="en-US"/>
          </a:p>
        </p:txBody>
      </p:sp>
    </p:spTree>
    <p:extLst>
      <p:ext uri="{BB962C8B-B14F-4D97-AF65-F5344CB8AC3E}">
        <p14:creationId xmlns:p14="http://schemas.microsoft.com/office/powerpoint/2010/main" val="1937506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4A1DF-C0FA-79FF-4FFC-C55F43FDBD9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E3A8C80-3E8C-1209-2076-521871CF8339}"/>
              </a:ext>
            </a:extLst>
          </p:cNvPr>
          <p:cNvSpPr>
            <a:spLocks noGrp="1"/>
          </p:cNvSpPr>
          <p:nvPr>
            <p:ph type="dt" sz="half" idx="10"/>
          </p:nvPr>
        </p:nvSpPr>
        <p:spPr/>
        <p:txBody>
          <a:bodyPr/>
          <a:lstStyle/>
          <a:p>
            <a:fld id="{81D72ABF-1F2B-AD4C-9E41-CE0BCAD2C17D}" type="datetimeFigureOut">
              <a:rPr lang="en-US" smtClean="0"/>
              <a:t>5/9/26</a:t>
            </a:fld>
            <a:endParaRPr lang="en-US"/>
          </a:p>
        </p:txBody>
      </p:sp>
      <p:sp>
        <p:nvSpPr>
          <p:cNvPr id="4" name="Footer Placeholder 3">
            <a:extLst>
              <a:ext uri="{FF2B5EF4-FFF2-40B4-BE49-F238E27FC236}">
                <a16:creationId xmlns:a16="http://schemas.microsoft.com/office/drawing/2014/main" id="{447FA365-18E1-09E1-BE44-3DFB5510DA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89FC84-4FBA-7A5A-72E1-E65C5604E427}"/>
              </a:ext>
            </a:extLst>
          </p:cNvPr>
          <p:cNvSpPr>
            <a:spLocks noGrp="1"/>
          </p:cNvSpPr>
          <p:nvPr>
            <p:ph type="sldNum" sz="quarter" idx="12"/>
          </p:nvPr>
        </p:nvSpPr>
        <p:spPr/>
        <p:txBody>
          <a:bodyPr/>
          <a:lstStyle/>
          <a:p>
            <a:fld id="{C3AB3A00-B7E9-BA44-95DC-C10D820C5D90}" type="slidenum">
              <a:rPr lang="en-US" smtClean="0"/>
              <a:t>‹#›</a:t>
            </a:fld>
            <a:endParaRPr lang="en-US"/>
          </a:p>
        </p:txBody>
      </p:sp>
    </p:spTree>
    <p:extLst>
      <p:ext uri="{BB962C8B-B14F-4D97-AF65-F5344CB8AC3E}">
        <p14:creationId xmlns:p14="http://schemas.microsoft.com/office/powerpoint/2010/main" val="2865084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5719F8-0D91-B6D6-9876-FCD87A0652E1}"/>
              </a:ext>
            </a:extLst>
          </p:cNvPr>
          <p:cNvSpPr>
            <a:spLocks noGrp="1"/>
          </p:cNvSpPr>
          <p:nvPr>
            <p:ph type="dt" sz="half" idx="10"/>
          </p:nvPr>
        </p:nvSpPr>
        <p:spPr/>
        <p:txBody>
          <a:bodyPr/>
          <a:lstStyle/>
          <a:p>
            <a:fld id="{81D72ABF-1F2B-AD4C-9E41-CE0BCAD2C17D}" type="datetimeFigureOut">
              <a:rPr lang="en-US" smtClean="0"/>
              <a:t>5/9/26</a:t>
            </a:fld>
            <a:endParaRPr lang="en-US"/>
          </a:p>
        </p:txBody>
      </p:sp>
      <p:sp>
        <p:nvSpPr>
          <p:cNvPr id="3" name="Footer Placeholder 2">
            <a:extLst>
              <a:ext uri="{FF2B5EF4-FFF2-40B4-BE49-F238E27FC236}">
                <a16:creationId xmlns:a16="http://schemas.microsoft.com/office/drawing/2014/main" id="{D64FF54A-8362-10C0-B575-B0B1C6AC5E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A961EA-185E-67EF-5FEF-6D7FDF4FE956}"/>
              </a:ext>
            </a:extLst>
          </p:cNvPr>
          <p:cNvSpPr>
            <a:spLocks noGrp="1"/>
          </p:cNvSpPr>
          <p:nvPr>
            <p:ph type="sldNum" sz="quarter" idx="12"/>
          </p:nvPr>
        </p:nvSpPr>
        <p:spPr/>
        <p:txBody>
          <a:bodyPr/>
          <a:lstStyle/>
          <a:p>
            <a:fld id="{C3AB3A00-B7E9-BA44-95DC-C10D820C5D90}" type="slidenum">
              <a:rPr lang="en-US" smtClean="0"/>
              <a:t>‹#›</a:t>
            </a:fld>
            <a:endParaRPr lang="en-US"/>
          </a:p>
        </p:txBody>
      </p:sp>
    </p:spTree>
    <p:extLst>
      <p:ext uri="{BB962C8B-B14F-4D97-AF65-F5344CB8AC3E}">
        <p14:creationId xmlns:p14="http://schemas.microsoft.com/office/powerpoint/2010/main" val="1170762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75204-2114-AC2E-8AC2-14B80AD035A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8991F97-3E32-8909-2404-7A3BAAD366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618257C-71F9-0ADD-A36D-8F97487927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0EEF3D2-A14F-416D-0ACE-2C724BA933A9}"/>
              </a:ext>
            </a:extLst>
          </p:cNvPr>
          <p:cNvSpPr>
            <a:spLocks noGrp="1"/>
          </p:cNvSpPr>
          <p:nvPr>
            <p:ph type="dt" sz="half" idx="10"/>
          </p:nvPr>
        </p:nvSpPr>
        <p:spPr/>
        <p:txBody>
          <a:bodyPr/>
          <a:lstStyle/>
          <a:p>
            <a:fld id="{81D72ABF-1F2B-AD4C-9E41-CE0BCAD2C17D}" type="datetimeFigureOut">
              <a:rPr lang="en-US" smtClean="0"/>
              <a:t>5/9/26</a:t>
            </a:fld>
            <a:endParaRPr lang="en-US"/>
          </a:p>
        </p:txBody>
      </p:sp>
      <p:sp>
        <p:nvSpPr>
          <p:cNvPr id="6" name="Footer Placeholder 5">
            <a:extLst>
              <a:ext uri="{FF2B5EF4-FFF2-40B4-BE49-F238E27FC236}">
                <a16:creationId xmlns:a16="http://schemas.microsoft.com/office/drawing/2014/main" id="{2C9C4501-0C8D-971D-14EA-FCE55FDCA8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3B1764-57B5-DFE9-4716-3EB181794C4A}"/>
              </a:ext>
            </a:extLst>
          </p:cNvPr>
          <p:cNvSpPr>
            <a:spLocks noGrp="1"/>
          </p:cNvSpPr>
          <p:nvPr>
            <p:ph type="sldNum" sz="quarter" idx="12"/>
          </p:nvPr>
        </p:nvSpPr>
        <p:spPr/>
        <p:txBody>
          <a:bodyPr/>
          <a:lstStyle/>
          <a:p>
            <a:fld id="{C3AB3A00-B7E9-BA44-95DC-C10D820C5D90}" type="slidenum">
              <a:rPr lang="en-US" smtClean="0"/>
              <a:t>‹#›</a:t>
            </a:fld>
            <a:endParaRPr lang="en-US"/>
          </a:p>
        </p:txBody>
      </p:sp>
    </p:spTree>
    <p:extLst>
      <p:ext uri="{BB962C8B-B14F-4D97-AF65-F5344CB8AC3E}">
        <p14:creationId xmlns:p14="http://schemas.microsoft.com/office/powerpoint/2010/main" val="1098137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37200-DBD4-F320-D6C8-111ED07289F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430812B-9898-F6F2-BCE9-507577224C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24A823-3574-39E5-0B12-D51023473E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A11DAE3-14A7-E7B1-5ADD-66B13D20AB92}"/>
              </a:ext>
            </a:extLst>
          </p:cNvPr>
          <p:cNvSpPr>
            <a:spLocks noGrp="1"/>
          </p:cNvSpPr>
          <p:nvPr>
            <p:ph type="dt" sz="half" idx="10"/>
          </p:nvPr>
        </p:nvSpPr>
        <p:spPr/>
        <p:txBody>
          <a:bodyPr/>
          <a:lstStyle/>
          <a:p>
            <a:fld id="{81D72ABF-1F2B-AD4C-9E41-CE0BCAD2C17D}" type="datetimeFigureOut">
              <a:rPr lang="en-US" smtClean="0"/>
              <a:t>5/9/26</a:t>
            </a:fld>
            <a:endParaRPr lang="en-US"/>
          </a:p>
        </p:txBody>
      </p:sp>
      <p:sp>
        <p:nvSpPr>
          <p:cNvPr id="6" name="Footer Placeholder 5">
            <a:extLst>
              <a:ext uri="{FF2B5EF4-FFF2-40B4-BE49-F238E27FC236}">
                <a16:creationId xmlns:a16="http://schemas.microsoft.com/office/drawing/2014/main" id="{5B34E29E-FD6D-3FBE-6E02-3657A5239F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3048FA-CF69-5A4E-77BB-81BE34B96EB9}"/>
              </a:ext>
            </a:extLst>
          </p:cNvPr>
          <p:cNvSpPr>
            <a:spLocks noGrp="1"/>
          </p:cNvSpPr>
          <p:nvPr>
            <p:ph type="sldNum" sz="quarter" idx="12"/>
          </p:nvPr>
        </p:nvSpPr>
        <p:spPr/>
        <p:txBody>
          <a:bodyPr/>
          <a:lstStyle/>
          <a:p>
            <a:fld id="{C3AB3A00-B7E9-BA44-95DC-C10D820C5D90}" type="slidenum">
              <a:rPr lang="en-US" smtClean="0"/>
              <a:t>‹#›</a:t>
            </a:fld>
            <a:endParaRPr lang="en-US"/>
          </a:p>
        </p:txBody>
      </p:sp>
    </p:spTree>
    <p:extLst>
      <p:ext uri="{BB962C8B-B14F-4D97-AF65-F5344CB8AC3E}">
        <p14:creationId xmlns:p14="http://schemas.microsoft.com/office/powerpoint/2010/main" val="4064138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0AE95-B8A7-EC37-433A-C47E7E11343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AC479A6-01C8-A546-76B3-8855B0BD220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46FE60E-1EBB-75FB-07FB-2575987ABF04}"/>
              </a:ext>
            </a:extLst>
          </p:cNvPr>
          <p:cNvSpPr>
            <a:spLocks noGrp="1"/>
          </p:cNvSpPr>
          <p:nvPr>
            <p:ph type="dt" sz="half" idx="10"/>
          </p:nvPr>
        </p:nvSpPr>
        <p:spPr/>
        <p:txBody>
          <a:bodyPr/>
          <a:lstStyle/>
          <a:p>
            <a:fld id="{81D72ABF-1F2B-AD4C-9E41-CE0BCAD2C17D}" type="datetimeFigureOut">
              <a:rPr lang="en-US" smtClean="0"/>
              <a:t>5/9/26</a:t>
            </a:fld>
            <a:endParaRPr lang="en-US"/>
          </a:p>
        </p:txBody>
      </p:sp>
      <p:sp>
        <p:nvSpPr>
          <p:cNvPr id="5" name="Footer Placeholder 4">
            <a:extLst>
              <a:ext uri="{FF2B5EF4-FFF2-40B4-BE49-F238E27FC236}">
                <a16:creationId xmlns:a16="http://schemas.microsoft.com/office/drawing/2014/main" id="{8BB09B23-5948-427A-98FC-0C0A164E42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4B0D5B-AE18-DA21-950B-41E74EA7FC81}"/>
              </a:ext>
            </a:extLst>
          </p:cNvPr>
          <p:cNvSpPr>
            <a:spLocks noGrp="1"/>
          </p:cNvSpPr>
          <p:nvPr>
            <p:ph type="sldNum" sz="quarter" idx="12"/>
          </p:nvPr>
        </p:nvSpPr>
        <p:spPr/>
        <p:txBody>
          <a:bodyPr/>
          <a:lstStyle/>
          <a:p>
            <a:fld id="{C3AB3A00-B7E9-BA44-95DC-C10D820C5D90}" type="slidenum">
              <a:rPr lang="en-US" smtClean="0"/>
              <a:t>‹#›</a:t>
            </a:fld>
            <a:endParaRPr lang="en-US"/>
          </a:p>
        </p:txBody>
      </p:sp>
    </p:spTree>
    <p:extLst>
      <p:ext uri="{BB962C8B-B14F-4D97-AF65-F5344CB8AC3E}">
        <p14:creationId xmlns:p14="http://schemas.microsoft.com/office/powerpoint/2010/main" val="213006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10F83E-8404-F0CB-B8A4-672C8A13857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08A9EDE-D4C4-8694-7B73-EAC5A89982D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5B6EFD2-FB4A-BF91-DABC-C15082854B48}"/>
              </a:ext>
            </a:extLst>
          </p:cNvPr>
          <p:cNvSpPr>
            <a:spLocks noGrp="1"/>
          </p:cNvSpPr>
          <p:nvPr>
            <p:ph type="dt" sz="half" idx="10"/>
          </p:nvPr>
        </p:nvSpPr>
        <p:spPr/>
        <p:txBody>
          <a:bodyPr/>
          <a:lstStyle/>
          <a:p>
            <a:fld id="{81D72ABF-1F2B-AD4C-9E41-CE0BCAD2C17D}" type="datetimeFigureOut">
              <a:rPr lang="en-US" smtClean="0"/>
              <a:t>5/9/26</a:t>
            </a:fld>
            <a:endParaRPr lang="en-US"/>
          </a:p>
        </p:txBody>
      </p:sp>
      <p:sp>
        <p:nvSpPr>
          <p:cNvPr id="5" name="Footer Placeholder 4">
            <a:extLst>
              <a:ext uri="{FF2B5EF4-FFF2-40B4-BE49-F238E27FC236}">
                <a16:creationId xmlns:a16="http://schemas.microsoft.com/office/drawing/2014/main" id="{9DA01674-B257-D431-5A6D-F6B78A1D2D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CE279A-FBC3-246D-25B8-7907C4DE4ACB}"/>
              </a:ext>
            </a:extLst>
          </p:cNvPr>
          <p:cNvSpPr>
            <a:spLocks noGrp="1"/>
          </p:cNvSpPr>
          <p:nvPr>
            <p:ph type="sldNum" sz="quarter" idx="12"/>
          </p:nvPr>
        </p:nvSpPr>
        <p:spPr/>
        <p:txBody>
          <a:bodyPr/>
          <a:lstStyle/>
          <a:p>
            <a:fld id="{C3AB3A00-B7E9-BA44-95DC-C10D820C5D90}" type="slidenum">
              <a:rPr lang="en-US" smtClean="0"/>
              <a:t>‹#›</a:t>
            </a:fld>
            <a:endParaRPr lang="en-US"/>
          </a:p>
        </p:txBody>
      </p:sp>
    </p:spTree>
    <p:extLst>
      <p:ext uri="{BB962C8B-B14F-4D97-AF65-F5344CB8AC3E}">
        <p14:creationId xmlns:p14="http://schemas.microsoft.com/office/powerpoint/2010/main" val="3114240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27BE4E-BCAC-8474-6DE3-58D66F7473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5CAE8D3-92C8-5DD7-8880-C59D148134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A1271DD-8214-64BE-4793-B52A474B33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D72ABF-1F2B-AD4C-9E41-CE0BCAD2C17D}" type="datetimeFigureOut">
              <a:rPr lang="en-US" smtClean="0"/>
              <a:t>5/9/26</a:t>
            </a:fld>
            <a:endParaRPr lang="en-US"/>
          </a:p>
        </p:txBody>
      </p:sp>
      <p:sp>
        <p:nvSpPr>
          <p:cNvPr id="5" name="Footer Placeholder 4">
            <a:extLst>
              <a:ext uri="{FF2B5EF4-FFF2-40B4-BE49-F238E27FC236}">
                <a16:creationId xmlns:a16="http://schemas.microsoft.com/office/drawing/2014/main" id="{84CAAFA5-7BF8-B81E-A09F-7FCB6E5AA6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71BA790-74F1-D66F-9294-CBC4AE76B9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3AB3A00-B7E9-BA44-95DC-C10D820C5D90}" type="slidenum">
              <a:rPr lang="en-US" smtClean="0"/>
              <a:t>‹#›</a:t>
            </a:fld>
            <a:endParaRPr lang="en-US"/>
          </a:p>
        </p:txBody>
      </p:sp>
    </p:spTree>
    <p:extLst>
      <p:ext uri="{BB962C8B-B14F-4D97-AF65-F5344CB8AC3E}">
        <p14:creationId xmlns:p14="http://schemas.microsoft.com/office/powerpoint/2010/main" val="1295962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4D900-1773-5343-05B9-273301B93953}"/>
              </a:ext>
            </a:extLst>
          </p:cNvPr>
          <p:cNvSpPr>
            <a:spLocks noGrp="1"/>
          </p:cNvSpPr>
          <p:nvPr>
            <p:ph type="ctrTitle"/>
          </p:nvPr>
        </p:nvSpPr>
        <p:spPr/>
        <p:txBody>
          <a:bodyPr/>
          <a:lstStyle/>
          <a:p>
            <a:r>
              <a:rPr lang="en-US" dirty="0"/>
              <a:t>LLM Inference at Scale</a:t>
            </a:r>
          </a:p>
        </p:txBody>
      </p:sp>
      <p:sp>
        <p:nvSpPr>
          <p:cNvPr id="3" name="Subtitle 2">
            <a:extLst>
              <a:ext uri="{FF2B5EF4-FFF2-40B4-BE49-F238E27FC236}">
                <a16:creationId xmlns:a16="http://schemas.microsoft.com/office/drawing/2014/main" id="{77941B34-04A0-5FB3-C87F-FE662F288F94}"/>
              </a:ext>
            </a:extLst>
          </p:cNvPr>
          <p:cNvSpPr>
            <a:spLocks noGrp="1"/>
          </p:cNvSpPr>
          <p:nvPr>
            <p:ph type="subTitle" idx="1"/>
          </p:nvPr>
        </p:nvSpPr>
        <p:spPr/>
        <p:txBody>
          <a:bodyPr/>
          <a:lstStyle/>
          <a:p>
            <a:r>
              <a:rPr lang="en-US" dirty="0"/>
              <a:t>M K Pavan Kumar</a:t>
            </a:r>
          </a:p>
        </p:txBody>
      </p:sp>
    </p:spTree>
    <p:extLst>
      <p:ext uri="{BB962C8B-B14F-4D97-AF65-F5344CB8AC3E}">
        <p14:creationId xmlns:p14="http://schemas.microsoft.com/office/powerpoint/2010/main" val="703654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BBC56C-8016-6022-653F-608172A208EC}"/>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kern="1200">
                <a:solidFill>
                  <a:schemeClr val="tx1"/>
                </a:solidFill>
                <a:latin typeface="+mj-lt"/>
                <a:ea typeface="+mj-ea"/>
                <a:cs typeface="+mj-cs"/>
              </a:rPr>
              <a:t>Session Overview</a:t>
            </a:r>
          </a:p>
        </p:txBody>
      </p:sp>
      <p:sp>
        <p:nvSpPr>
          <p:cNvPr id="19"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6504161-9F7F-F7B3-3ED3-9D03583A207C}"/>
              </a:ext>
            </a:extLst>
          </p:cNvPr>
          <p:cNvSpPr txBox="1"/>
          <p:nvPr/>
        </p:nvSpPr>
        <p:spPr>
          <a:xfrm>
            <a:off x="630936" y="2807208"/>
            <a:ext cx="3429000" cy="3410712"/>
          </a:xfrm>
          <a:prstGeom prst="rect">
            <a:avLst/>
          </a:prstGeom>
        </p:spPr>
        <p:txBody>
          <a:bodyPr vert="horz" lIns="91440" tIns="45720" rIns="91440" bIns="45720" rtlCol="0" anchor="t">
            <a:normAutofit/>
          </a:bodyPr>
          <a:lstStyle/>
          <a:p>
            <a:pPr marL="342900" indent="-228600">
              <a:lnSpc>
                <a:spcPct val="90000"/>
              </a:lnSpc>
              <a:spcAft>
                <a:spcPts val="600"/>
              </a:spcAft>
              <a:buFont typeface="Arial" panose="020B0604020202020204" pitchFamily="34" charset="0"/>
              <a:buChar char="•"/>
            </a:pPr>
            <a:r>
              <a:rPr lang="en-US" sz="1500"/>
              <a:t>Kickoff</a:t>
            </a:r>
          </a:p>
          <a:p>
            <a:pPr marL="342900" indent="-228600">
              <a:lnSpc>
                <a:spcPct val="90000"/>
              </a:lnSpc>
              <a:spcAft>
                <a:spcPts val="600"/>
              </a:spcAft>
              <a:buFont typeface="Arial" panose="020B0604020202020204" pitchFamily="34" charset="0"/>
              <a:buChar char="•"/>
            </a:pPr>
            <a:r>
              <a:rPr lang="en-US" sz="1500"/>
              <a:t>KV Cache and Paged Attention</a:t>
            </a:r>
          </a:p>
          <a:p>
            <a:pPr marL="342900" indent="-228600">
              <a:lnSpc>
                <a:spcPct val="90000"/>
              </a:lnSpc>
              <a:spcAft>
                <a:spcPts val="600"/>
              </a:spcAft>
              <a:buFont typeface="Arial" panose="020B0604020202020204" pitchFamily="34" charset="0"/>
              <a:buChar char="•"/>
            </a:pPr>
            <a:r>
              <a:rPr lang="en-US" sz="1500"/>
              <a:t>vLLM Scheduler and Continuous Batching</a:t>
            </a:r>
          </a:p>
          <a:p>
            <a:pPr marL="342900" indent="-228600">
              <a:lnSpc>
                <a:spcPct val="90000"/>
              </a:lnSpc>
              <a:spcAft>
                <a:spcPts val="600"/>
              </a:spcAft>
              <a:buFont typeface="Arial" panose="020B0604020202020204" pitchFamily="34" charset="0"/>
              <a:buChar char="•"/>
            </a:pPr>
            <a:r>
              <a:rPr lang="en-US" sz="1500"/>
              <a:t>Adv features like Prefix Cache, Speculative Decoding</a:t>
            </a:r>
          </a:p>
          <a:p>
            <a:pPr marL="342900" indent="-228600">
              <a:lnSpc>
                <a:spcPct val="90000"/>
              </a:lnSpc>
              <a:spcAft>
                <a:spcPts val="600"/>
              </a:spcAft>
              <a:buFont typeface="Arial" panose="020B0604020202020204" pitchFamily="34" charset="0"/>
              <a:buChar char="•"/>
            </a:pPr>
            <a:r>
              <a:rPr lang="en-US" sz="1500"/>
              <a:t>Different Inference Engines and NVIDIA GPU Family</a:t>
            </a:r>
          </a:p>
          <a:p>
            <a:pPr marL="342900" indent="-228600">
              <a:lnSpc>
                <a:spcPct val="90000"/>
              </a:lnSpc>
              <a:spcAft>
                <a:spcPts val="600"/>
              </a:spcAft>
              <a:buFont typeface="Arial" panose="020B0604020202020204" pitchFamily="34" charset="0"/>
              <a:buChar char="•"/>
            </a:pPr>
            <a:r>
              <a:rPr lang="en-US" sz="1500"/>
              <a:t>Online Serving and Benchmarking</a:t>
            </a:r>
          </a:p>
          <a:p>
            <a:pPr marL="342900" indent="-228600">
              <a:lnSpc>
                <a:spcPct val="90000"/>
              </a:lnSpc>
              <a:spcAft>
                <a:spcPts val="600"/>
              </a:spcAft>
              <a:buFont typeface="Arial" panose="020B0604020202020204" pitchFamily="34" charset="0"/>
              <a:buChar char="•"/>
            </a:pPr>
            <a:r>
              <a:rPr lang="en-US" sz="1500"/>
              <a:t>Single node muti-GPU inferencing (TP, PP)</a:t>
            </a:r>
          </a:p>
          <a:p>
            <a:pPr marL="342900" indent="-228600">
              <a:lnSpc>
                <a:spcPct val="90000"/>
              </a:lnSpc>
              <a:spcAft>
                <a:spcPts val="600"/>
              </a:spcAft>
              <a:buFont typeface="Arial" panose="020B0604020202020204" pitchFamily="34" charset="0"/>
              <a:buChar char="•"/>
            </a:pPr>
            <a:r>
              <a:rPr lang="en-US" sz="1500"/>
              <a:t>Recap</a:t>
            </a:r>
          </a:p>
        </p:txBody>
      </p:sp>
      <p:pic>
        <p:nvPicPr>
          <p:cNvPr id="6" name="Picture 5">
            <a:extLst>
              <a:ext uri="{FF2B5EF4-FFF2-40B4-BE49-F238E27FC236}">
                <a16:creationId xmlns:a16="http://schemas.microsoft.com/office/drawing/2014/main" id="{B1C1375F-0E8F-EFB1-CE52-E7CAA22074DC}"/>
              </a:ext>
            </a:extLst>
          </p:cNvPr>
          <p:cNvPicPr>
            <a:picLocks noChangeAspect="1"/>
          </p:cNvPicPr>
          <p:nvPr/>
        </p:nvPicPr>
        <p:blipFill>
          <a:blip r:embed="rId3"/>
          <a:stretch>
            <a:fillRect/>
          </a:stretch>
        </p:blipFill>
        <p:spPr>
          <a:xfrm>
            <a:off x="4654296" y="969550"/>
            <a:ext cx="6903720" cy="4918899"/>
          </a:xfrm>
          <a:prstGeom prst="rect">
            <a:avLst/>
          </a:prstGeom>
        </p:spPr>
      </p:pic>
    </p:spTree>
    <p:extLst>
      <p:ext uri="{BB962C8B-B14F-4D97-AF65-F5344CB8AC3E}">
        <p14:creationId xmlns:p14="http://schemas.microsoft.com/office/powerpoint/2010/main" val="3451993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9C9702-9971-62EF-A1F8-FE0BB2FC2478}"/>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000" kern="1200">
                <a:solidFill>
                  <a:schemeClr val="tx1"/>
                </a:solidFill>
                <a:latin typeface="+mj-lt"/>
                <a:ea typeface="+mj-ea"/>
                <a:cs typeface="+mj-cs"/>
              </a:rPr>
              <a:t>What and Why of vLLM ?</a:t>
            </a:r>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16E24AD-AD9A-AC12-A0A1-E46AACF34213}"/>
              </a:ext>
            </a:extLst>
          </p:cNvPr>
          <p:cNvSpPr txBox="1"/>
          <p:nvPr/>
        </p:nvSpPr>
        <p:spPr>
          <a:xfrm>
            <a:off x="630936" y="2660904"/>
            <a:ext cx="4818888" cy="3547872"/>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1200"/>
              <a:t>vLLM is a high-performance inference engine designed to serve Large Language Models efficiently, with native support for a wide range of Hugging Face models including decoder, embedding, and modern architectures like Mamba. </a:t>
            </a:r>
          </a:p>
          <a:p>
            <a:pPr marL="285750" indent="-228600">
              <a:lnSpc>
                <a:spcPct val="90000"/>
              </a:lnSpc>
              <a:spcAft>
                <a:spcPts val="600"/>
              </a:spcAft>
              <a:buFont typeface="Arial" panose="020B0604020202020204" pitchFamily="34" charset="0"/>
              <a:buChar char="•"/>
            </a:pPr>
            <a:r>
              <a:rPr lang="en-US" sz="1200"/>
              <a:t>vLLM achieves significantly higher throughput using its core innovation called PagedAttention, which optimizes KV-Cache memory allocation and reduces memory waste from nearly 60–80% down to under 4%. </a:t>
            </a:r>
          </a:p>
          <a:p>
            <a:pPr marL="285750" indent="-228600">
              <a:lnSpc>
                <a:spcPct val="90000"/>
              </a:lnSpc>
              <a:spcAft>
                <a:spcPts val="600"/>
              </a:spcAft>
              <a:buFont typeface="Arial" panose="020B0604020202020204" pitchFamily="34" charset="0"/>
              <a:buChar char="•"/>
            </a:pPr>
            <a:r>
              <a:rPr lang="en-US" sz="1200"/>
              <a:t>Better memory efficiency means fewer GPUs are required for the same workload, resulting in lower infrastructure cost, improved scalability, and faster token generation for production AI systems. </a:t>
            </a:r>
          </a:p>
          <a:p>
            <a:pPr marL="285750" indent="-228600">
              <a:lnSpc>
                <a:spcPct val="90000"/>
              </a:lnSpc>
              <a:spcAft>
                <a:spcPts val="600"/>
              </a:spcAft>
              <a:buFont typeface="Arial" panose="020B0604020202020204" pitchFamily="34" charset="0"/>
              <a:buChar char="•"/>
            </a:pPr>
            <a:r>
              <a:rPr lang="en-US" sz="1200"/>
              <a:t>Compared to alternatives like TensorRT-LLM and LMDeploy, vLLM offers broader model compatibility and simpler operations because most models can be deployed directly from Hugging Face without complex conversion pipelines.</a:t>
            </a:r>
          </a:p>
          <a:p>
            <a:pPr marL="285750" indent="-228600">
              <a:lnSpc>
                <a:spcPct val="90000"/>
              </a:lnSpc>
              <a:spcAft>
                <a:spcPts val="600"/>
              </a:spcAft>
              <a:buFont typeface="Arial" panose="020B0604020202020204" pitchFamily="34" charset="0"/>
              <a:buChar char="•"/>
            </a:pPr>
            <a:r>
              <a:rPr lang="en-US" sz="1200"/>
              <a:t> vLLM is widely preferred for real-world AI services because it balances high throughput with low TTFT (Time To First Token), delivering faster perceived response times and a smoother user experience in chatbots, copilots, RAG systems, and AI agents.</a:t>
            </a:r>
          </a:p>
        </p:txBody>
      </p:sp>
      <p:pic>
        <p:nvPicPr>
          <p:cNvPr id="4" name="Picture 3">
            <a:extLst>
              <a:ext uri="{FF2B5EF4-FFF2-40B4-BE49-F238E27FC236}">
                <a16:creationId xmlns:a16="http://schemas.microsoft.com/office/drawing/2014/main" id="{123A91C3-06FF-E3AA-BDEA-7A2C8D4B7B72}"/>
              </a:ext>
            </a:extLst>
          </p:cNvPr>
          <p:cNvPicPr>
            <a:picLocks noChangeAspect="1"/>
          </p:cNvPicPr>
          <p:nvPr/>
        </p:nvPicPr>
        <p:blipFill>
          <a:blip r:embed="rId3"/>
          <a:stretch>
            <a:fillRect/>
          </a:stretch>
        </p:blipFill>
        <p:spPr>
          <a:xfrm>
            <a:off x="6109336" y="640080"/>
            <a:ext cx="5438392" cy="5577840"/>
          </a:xfrm>
          <a:prstGeom prst="rect">
            <a:avLst/>
          </a:prstGeom>
        </p:spPr>
      </p:pic>
    </p:spTree>
    <p:extLst>
      <p:ext uri="{BB962C8B-B14F-4D97-AF65-F5344CB8AC3E}">
        <p14:creationId xmlns:p14="http://schemas.microsoft.com/office/powerpoint/2010/main" val="1259707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5E45A2-D647-179C-43AE-F2BB89D66E3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917387-50DB-7982-FB7C-5F36084DBCCA}"/>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The Journey of Prompt</a:t>
            </a:r>
          </a:p>
        </p:txBody>
      </p:sp>
      <p:sp>
        <p:nvSpPr>
          <p:cNvPr id="1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E18305A-1B9D-7F12-1D60-5E7D15FEDB90}"/>
              </a:ext>
            </a:extLst>
          </p:cNvPr>
          <p:cNvPicPr>
            <a:picLocks noChangeAspect="1"/>
          </p:cNvPicPr>
          <p:nvPr/>
        </p:nvPicPr>
        <p:blipFill>
          <a:blip r:embed="rId3"/>
          <a:stretch>
            <a:fillRect/>
          </a:stretch>
        </p:blipFill>
        <p:spPr>
          <a:xfrm>
            <a:off x="5895743" y="640080"/>
            <a:ext cx="4731721" cy="5550408"/>
          </a:xfrm>
          <a:prstGeom prst="rect">
            <a:avLst/>
          </a:prstGeom>
        </p:spPr>
      </p:pic>
    </p:spTree>
    <p:extLst>
      <p:ext uri="{BB962C8B-B14F-4D97-AF65-F5344CB8AC3E}">
        <p14:creationId xmlns:p14="http://schemas.microsoft.com/office/powerpoint/2010/main" val="4219710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9BD007-77D7-0182-5459-739C702440C4}"/>
              </a:ext>
            </a:extLst>
          </p:cNvPr>
          <p:cNvSpPr>
            <a:spLocks noGrp="1"/>
          </p:cNvSpPr>
          <p:nvPr>
            <p:ph type="title"/>
          </p:nvPr>
        </p:nvSpPr>
        <p:spPr>
          <a:xfrm>
            <a:off x="630936" y="639520"/>
            <a:ext cx="3429000" cy="1719072"/>
          </a:xfrm>
        </p:spPr>
        <p:txBody>
          <a:bodyPr anchor="b">
            <a:normAutofit/>
          </a:bodyPr>
          <a:lstStyle/>
          <a:p>
            <a:r>
              <a:rPr lang="en-IN" sz="3800" dirty="0"/>
              <a:t>KV Cache &amp; </a:t>
            </a:r>
            <a:r>
              <a:rPr lang="en-IN" sz="3800" dirty="0" err="1"/>
              <a:t>PagedAttention</a:t>
            </a:r>
            <a:endParaRPr lang="en-US" sz="3800" dirty="0"/>
          </a:p>
        </p:txBody>
      </p:sp>
      <p:sp>
        <p:nvSpPr>
          <p:cNvPr id="2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32533F3-E93E-635F-411C-A4FED99B5477}"/>
              </a:ext>
            </a:extLst>
          </p:cNvPr>
          <p:cNvSpPr>
            <a:spLocks noGrp="1"/>
          </p:cNvSpPr>
          <p:nvPr>
            <p:ph idx="1"/>
          </p:nvPr>
        </p:nvSpPr>
        <p:spPr>
          <a:xfrm>
            <a:off x="630936" y="2807208"/>
            <a:ext cx="4972668" cy="3451053"/>
          </a:xfrm>
        </p:spPr>
        <p:txBody>
          <a:bodyPr anchor="t">
            <a:noAutofit/>
          </a:bodyPr>
          <a:lstStyle/>
          <a:p>
            <a:pPr marL="0" indent="0">
              <a:buNone/>
            </a:pPr>
            <a:r>
              <a:rPr lang="en-IN" sz="1200" dirty="0"/>
              <a:t>In a Transformer, during the attention mechanism, for every new token generated, the model needs to attend over </a:t>
            </a:r>
            <a:r>
              <a:rPr lang="en-IN" sz="1200" b="1" dirty="0"/>
              <a:t>all previous tokens</a:t>
            </a:r>
            <a:r>
              <a:rPr lang="en-IN" sz="1200" dirty="0"/>
              <a:t>. Without caching, the model would recompute the Key (K) and Value (V) vectors for every past token at every step.</a:t>
            </a:r>
          </a:p>
          <a:p>
            <a:r>
              <a:rPr lang="en-IN" sz="1200" dirty="0"/>
              <a:t>Without KV Cache (step 5 of generation):</a:t>
            </a:r>
          </a:p>
          <a:p>
            <a:pPr marL="180000">
              <a:spcBef>
                <a:spcPts val="100"/>
              </a:spcBef>
            </a:pPr>
            <a:r>
              <a:rPr lang="en-IN" sz="1200" dirty="0"/>
              <a:t>  Recompute K,V for token 1</a:t>
            </a:r>
          </a:p>
          <a:p>
            <a:pPr marL="180000">
              <a:spcBef>
                <a:spcPts val="100"/>
              </a:spcBef>
            </a:pPr>
            <a:r>
              <a:rPr lang="en-IN" sz="1200" dirty="0"/>
              <a:t>  Recompute K,V for token 2</a:t>
            </a:r>
          </a:p>
          <a:p>
            <a:pPr marL="180000">
              <a:spcBef>
                <a:spcPts val="100"/>
              </a:spcBef>
            </a:pPr>
            <a:r>
              <a:rPr lang="en-IN" sz="1200" dirty="0"/>
              <a:t>  Recompute K,V for token 3</a:t>
            </a:r>
          </a:p>
          <a:p>
            <a:pPr marL="180000">
              <a:spcBef>
                <a:spcPts val="100"/>
              </a:spcBef>
            </a:pPr>
            <a:r>
              <a:rPr lang="en-IN" sz="1200" dirty="0"/>
              <a:t>  Recompute K,V for token 4</a:t>
            </a:r>
          </a:p>
          <a:p>
            <a:pPr marL="180000">
              <a:spcBef>
                <a:spcPts val="100"/>
              </a:spcBef>
            </a:pPr>
            <a:r>
              <a:rPr lang="en-IN" sz="1200" dirty="0"/>
              <a:t>  Compute  K,V for token 5  ← new token</a:t>
            </a:r>
          </a:p>
          <a:p>
            <a:pPr marL="0" indent="0">
              <a:buNone/>
            </a:pPr>
            <a:r>
              <a:rPr lang="en-IN" sz="1200" dirty="0"/>
              <a:t>This is extremely wasteful. KV Cache solves this by </a:t>
            </a:r>
            <a:r>
              <a:rPr lang="en-IN" sz="1200" b="1" dirty="0"/>
              <a:t>storing</a:t>
            </a:r>
            <a:r>
              <a:rPr lang="en-IN" sz="1200" dirty="0"/>
              <a:t> K and V once they are computed, so they can be reused.</a:t>
            </a:r>
          </a:p>
          <a:p>
            <a:pPr marL="0" indent="0">
              <a:buNone/>
            </a:pPr>
            <a:endParaRPr lang="en-IN" sz="1200" dirty="0"/>
          </a:p>
          <a:p>
            <a:pPr>
              <a:spcBef>
                <a:spcPts val="100"/>
              </a:spcBef>
            </a:pPr>
            <a:r>
              <a:rPr lang="en-IN" sz="1200" dirty="0"/>
              <a:t>With KV Cache (step 5 of generation):</a:t>
            </a:r>
          </a:p>
          <a:p>
            <a:pPr>
              <a:spcBef>
                <a:spcPts val="100"/>
              </a:spcBef>
            </a:pPr>
            <a:r>
              <a:rPr lang="en-IN" sz="1200" dirty="0"/>
              <a:t>  Load K,V for tokens 1-4 from cache  ← reuse</a:t>
            </a:r>
          </a:p>
          <a:p>
            <a:pPr>
              <a:spcBef>
                <a:spcPts val="100"/>
              </a:spcBef>
            </a:pPr>
            <a:r>
              <a:rPr lang="en-IN" sz="1200" dirty="0"/>
              <a:t>  Compute K,V for token 5             ← only this is new</a:t>
            </a:r>
          </a:p>
          <a:p>
            <a:endParaRPr lang="en-US" sz="1200" dirty="0"/>
          </a:p>
        </p:txBody>
      </p:sp>
      <p:pic>
        <p:nvPicPr>
          <p:cNvPr id="4" name="Picture 3">
            <a:extLst>
              <a:ext uri="{FF2B5EF4-FFF2-40B4-BE49-F238E27FC236}">
                <a16:creationId xmlns:a16="http://schemas.microsoft.com/office/drawing/2014/main" id="{505D1182-6416-F395-588B-538ACF936309}"/>
              </a:ext>
            </a:extLst>
          </p:cNvPr>
          <p:cNvPicPr>
            <a:picLocks noChangeAspect="1"/>
          </p:cNvPicPr>
          <p:nvPr/>
        </p:nvPicPr>
        <p:blipFill>
          <a:blip r:embed="rId2"/>
          <a:stretch>
            <a:fillRect/>
          </a:stretch>
        </p:blipFill>
        <p:spPr>
          <a:xfrm>
            <a:off x="5603604" y="1896573"/>
            <a:ext cx="5957460" cy="3782986"/>
          </a:xfrm>
          <a:prstGeom prst="rect">
            <a:avLst/>
          </a:prstGeom>
        </p:spPr>
      </p:pic>
    </p:spTree>
    <p:extLst>
      <p:ext uri="{BB962C8B-B14F-4D97-AF65-F5344CB8AC3E}">
        <p14:creationId xmlns:p14="http://schemas.microsoft.com/office/powerpoint/2010/main" val="158746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5FF01C-6DF1-D5BD-8234-1E75A4BD0D49}"/>
              </a:ext>
            </a:extLst>
          </p:cNvPr>
          <p:cNvSpPr>
            <a:spLocks noGrp="1"/>
          </p:cNvSpPr>
          <p:nvPr>
            <p:ph type="title"/>
          </p:nvPr>
        </p:nvSpPr>
        <p:spPr>
          <a:xfrm>
            <a:off x="630935" y="639520"/>
            <a:ext cx="10223111" cy="1719072"/>
          </a:xfrm>
        </p:spPr>
        <p:txBody>
          <a:bodyPr anchor="b">
            <a:normAutofit/>
          </a:bodyPr>
          <a:lstStyle/>
          <a:p>
            <a:r>
              <a:rPr lang="en-IN" sz="4000" b="1"/>
              <a:t>What is KV Cache?</a:t>
            </a:r>
            <a:endParaRPr lang="en-IN" sz="4000" b="1" dirty="0"/>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2E1F7EA-E01F-4560-BA99-57CF1B00DB7D}"/>
              </a:ext>
            </a:extLst>
          </p:cNvPr>
          <p:cNvSpPr>
            <a:spLocks noGrp="1"/>
          </p:cNvSpPr>
          <p:nvPr>
            <p:ph idx="1"/>
          </p:nvPr>
        </p:nvSpPr>
        <p:spPr>
          <a:xfrm>
            <a:off x="630936" y="2807208"/>
            <a:ext cx="7183028" cy="3624746"/>
          </a:xfrm>
        </p:spPr>
        <p:txBody>
          <a:bodyPr anchor="t">
            <a:noAutofit/>
          </a:bodyPr>
          <a:lstStyle/>
          <a:p>
            <a:r>
              <a:rPr lang="en-IN" sz="1400" dirty="0"/>
              <a:t>For each token in a sequence, at each Transformer layer, the model computes:</a:t>
            </a:r>
          </a:p>
          <a:p>
            <a:pPr>
              <a:spcBef>
                <a:spcPts val="100"/>
              </a:spcBef>
            </a:pPr>
            <a:r>
              <a:rPr lang="en-IN" sz="1400" b="1" dirty="0"/>
              <a:t>K</a:t>
            </a:r>
            <a:r>
              <a:rPr lang="en-IN" sz="1400" dirty="0"/>
              <a:t> (Key vector) — what this token "offers"</a:t>
            </a:r>
          </a:p>
          <a:p>
            <a:pPr>
              <a:spcBef>
                <a:spcPts val="100"/>
              </a:spcBef>
            </a:pPr>
            <a:r>
              <a:rPr lang="en-IN" sz="1400" b="1" dirty="0"/>
              <a:t>V</a:t>
            </a:r>
            <a:r>
              <a:rPr lang="en-IN" sz="1400" dirty="0"/>
              <a:t> (Value vector) — what information this token holds</a:t>
            </a:r>
          </a:p>
          <a:p>
            <a:pPr>
              <a:spcBef>
                <a:spcPts val="100"/>
              </a:spcBef>
            </a:pPr>
            <a:r>
              <a:rPr lang="en-IN" sz="1400" dirty="0"/>
              <a:t>These are stored in GPU memory so they don't need to be recomputed.</a:t>
            </a:r>
          </a:p>
          <a:p>
            <a:pPr>
              <a:spcBef>
                <a:spcPts val="100"/>
              </a:spcBef>
            </a:pPr>
            <a:r>
              <a:rPr lang="en-IN" sz="1400" dirty="0"/>
              <a:t>Sentence: "today we are going to learn"</a:t>
            </a:r>
          </a:p>
          <a:p>
            <a:endParaRPr lang="en-IN" sz="1400" dirty="0"/>
          </a:p>
          <a:p>
            <a:r>
              <a:rPr lang="en-IN" sz="1400" dirty="0"/>
              <a:t>After prefill, KV Cache contains:</a:t>
            </a:r>
          </a:p>
          <a:p>
            <a:pPr>
              <a:spcBef>
                <a:spcPts val="100"/>
              </a:spcBef>
            </a:pPr>
            <a:r>
              <a:rPr lang="en-IN" sz="1400" dirty="0"/>
              <a:t>  Token 1 "today"   → K1, V1</a:t>
            </a:r>
          </a:p>
          <a:p>
            <a:pPr>
              <a:spcBef>
                <a:spcPts val="100"/>
              </a:spcBef>
            </a:pPr>
            <a:r>
              <a:rPr lang="en-IN" sz="1400" dirty="0"/>
              <a:t>  Token 2 "we"      → K2, V2</a:t>
            </a:r>
          </a:p>
          <a:p>
            <a:pPr>
              <a:spcBef>
                <a:spcPts val="100"/>
              </a:spcBef>
            </a:pPr>
            <a:r>
              <a:rPr lang="en-IN" sz="1400" dirty="0"/>
              <a:t>  Token 3 "are"     → K3, V3</a:t>
            </a:r>
          </a:p>
          <a:p>
            <a:pPr>
              <a:spcBef>
                <a:spcPts val="100"/>
              </a:spcBef>
            </a:pPr>
            <a:r>
              <a:rPr lang="en-IN" sz="1400" dirty="0"/>
              <a:t>  Token 4 "going"   → K4, V4</a:t>
            </a:r>
          </a:p>
          <a:p>
            <a:pPr>
              <a:spcBef>
                <a:spcPts val="100"/>
              </a:spcBef>
            </a:pPr>
            <a:r>
              <a:rPr lang="en-IN" sz="1400" dirty="0"/>
              <a:t>  Token 5 "to"      → K5, V5</a:t>
            </a:r>
          </a:p>
          <a:p>
            <a:pPr>
              <a:spcBef>
                <a:spcPts val="100"/>
              </a:spcBef>
            </a:pPr>
            <a:r>
              <a:rPr lang="en-IN" sz="1400" dirty="0"/>
              <a:t>  Token 6 "learn"   → K6, V6</a:t>
            </a:r>
          </a:p>
          <a:p>
            <a:r>
              <a:rPr lang="en-IN" sz="1400" dirty="0"/>
              <a:t>During decode, when the model generates token 7 (e.g., ”model"), it only computes K7, V7 and attends over the cached K1–K6.</a:t>
            </a:r>
          </a:p>
          <a:p>
            <a:endParaRPr lang="en-US" sz="1400" dirty="0"/>
          </a:p>
        </p:txBody>
      </p:sp>
      <p:pic>
        <p:nvPicPr>
          <p:cNvPr id="4" name="Picture 3">
            <a:extLst>
              <a:ext uri="{FF2B5EF4-FFF2-40B4-BE49-F238E27FC236}">
                <a16:creationId xmlns:a16="http://schemas.microsoft.com/office/drawing/2014/main" id="{FAACB842-E64A-154F-212A-79E18F75C9B7}"/>
              </a:ext>
            </a:extLst>
          </p:cNvPr>
          <p:cNvPicPr>
            <a:picLocks noChangeAspect="1"/>
          </p:cNvPicPr>
          <p:nvPr/>
        </p:nvPicPr>
        <p:blipFill>
          <a:blip r:embed="rId3"/>
          <a:stretch>
            <a:fillRect/>
          </a:stretch>
        </p:blipFill>
        <p:spPr>
          <a:xfrm>
            <a:off x="7683336" y="1988096"/>
            <a:ext cx="4071342" cy="4498722"/>
          </a:xfrm>
          <a:prstGeom prst="rect">
            <a:avLst/>
          </a:prstGeom>
        </p:spPr>
      </p:pic>
    </p:spTree>
    <p:extLst>
      <p:ext uri="{BB962C8B-B14F-4D97-AF65-F5344CB8AC3E}">
        <p14:creationId xmlns:p14="http://schemas.microsoft.com/office/powerpoint/2010/main" val="3570385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DA422A-A531-8FE0-61C1-7114BC7850C3}"/>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0CFEDC-4032-270E-3FF5-0116FB7AAE51}"/>
              </a:ext>
            </a:extLst>
          </p:cNvPr>
          <p:cNvSpPr>
            <a:spLocks noGrp="1"/>
          </p:cNvSpPr>
          <p:nvPr>
            <p:ph type="title"/>
          </p:nvPr>
        </p:nvSpPr>
        <p:spPr>
          <a:xfrm>
            <a:off x="630936" y="639520"/>
            <a:ext cx="3429000" cy="1719072"/>
          </a:xfrm>
        </p:spPr>
        <p:txBody>
          <a:bodyPr anchor="b">
            <a:normAutofit/>
          </a:bodyPr>
          <a:lstStyle/>
          <a:p>
            <a:r>
              <a:rPr lang="en-IN" sz="3800" b="1"/>
              <a:t>Problem of traditional  KV Cache!</a:t>
            </a:r>
          </a:p>
        </p:txBody>
      </p:sp>
      <p:sp>
        <p:nvSpPr>
          <p:cNvPr id="3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7E39965-2C2C-79A3-83C2-4E79B58A7DB8}"/>
              </a:ext>
            </a:extLst>
          </p:cNvPr>
          <p:cNvSpPr>
            <a:spLocks noGrp="1"/>
          </p:cNvSpPr>
          <p:nvPr>
            <p:ph idx="1"/>
          </p:nvPr>
        </p:nvSpPr>
        <p:spPr>
          <a:xfrm>
            <a:off x="630936" y="2807208"/>
            <a:ext cx="5231072" cy="3842024"/>
          </a:xfrm>
        </p:spPr>
        <p:txBody>
          <a:bodyPr anchor="t">
            <a:noAutofit/>
          </a:bodyPr>
          <a:lstStyle/>
          <a:p>
            <a:pPr marL="0" indent="0">
              <a:buNone/>
            </a:pPr>
            <a:r>
              <a:rPr lang="en-IN" sz="1200" dirty="0"/>
              <a:t>Traditional systems pre-allocate a </a:t>
            </a:r>
            <a:r>
              <a:rPr lang="en-IN" sz="1200" b="1" dirty="0"/>
              <a:t>single large contiguous block</a:t>
            </a:r>
            <a:r>
              <a:rPr lang="en-IN" sz="1200" dirty="0"/>
              <a:t> of GPU memory per request, sized for the maximum possible sequence length.</a:t>
            </a:r>
          </a:p>
          <a:p>
            <a:pPr>
              <a:spcBef>
                <a:spcPts val="100"/>
              </a:spcBef>
            </a:pPr>
            <a:r>
              <a:rPr lang="en-IN" sz="1200" dirty="0" err="1"/>
              <a:t>max_seq_len</a:t>
            </a:r>
            <a:r>
              <a:rPr lang="en-IN" sz="1200" dirty="0"/>
              <a:t> = 2048 tokens</a:t>
            </a:r>
          </a:p>
          <a:p>
            <a:pPr>
              <a:spcBef>
                <a:spcPts val="100"/>
              </a:spcBef>
            </a:pPr>
            <a:endParaRPr lang="en-IN" sz="1200" dirty="0"/>
          </a:p>
          <a:p>
            <a:pPr>
              <a:spcBef>
                <a:spcPts val="100"/>
              </a:spcBef>
            </a:pPr>
            <a:r>
              <a:rPr lang="en-IN" sz="1200" dirty="0"/>
              <a:t>Sequence 1 (actual: 200 tokens):</a:t>
            </a:r>
          </a:p>
          <a:p>
            <a:pPr>
              <a:spcBef>
                <a:spcPts val="100"/>
              </a:spcBef>
            </a:pPr>
            <a:r>
              <a:rPr lang="en-IN" sz="1200" dirty="0"/>
              <a:t>[████████░░░░░░░░░░░░░░░░░░░░░░░░░░░░░░░░░░░]</a:t>
            </a:r>
          </a:p>
          <a:p>
            <a:pPr>
              <a:spcBef>
                <a:spcPts val="100"/>
              </a:spcBef>
            </a:pPr>
            <a:r>
              <a:rPr lang="en-IN" sz="1200" dirty="0"/>
              <a:t> used=200      wasted=1848 tokens worth of memory</a:t>
            </a:r>
          </a:p>
          <a:p>
            <a:pPr>
              <a:spcBef>
                <a:spcPts val="100"/>
              </a:spcBef>
            </a:pPr>
            <a:endParaRPr lang="en-IN" sz="1200" dirty="0"/>
          </a:p>
          <a:p>
            <a:pPr>
              <a:spcBef>
                <a:spcPts val="100"/>
              </a:spcBef>
            </a:pPr>
            <a:r>
              <a:rPr lang="en-IN" sz="1200" dirty="0"/>
              <a:t>Sequence 2 (actual: 500 tokens):</a:t>
            </a:r>
          </a:p>
          <a:p>
            <a:pPr>
              <a:spcBef>
                <a:spcPts val="100"/>
              </a:spcBef>
            </a:pPr>
            <a:r>
              <a:rPr lang="en-IN" sz="1200" dirty="0"/>
              <a:t>[████████████░░░░░░░░░░░░░░░░░░░░░░░░░░░░░░░]</a:t>
            </a:r>
          </a:p>
          <a:p>
            <a:pPr>
              <a:spcBef>
                <a:spcPts val="100"/>
              </a:spcBef>
            </a:pPr>
            <a:r>
              <a:rPr lang="en-IN" sz="1200" dirty="0"/>
              <a:t> used=500      wasted=1548 tokens</a:t>
            </a:r>
          </a:p>
          <a:p>
            <a:r>
              <a:rPr lang="en-IN" sz="1200" dirty="0"/>
              <a:t>█ = used memory    ░ = wasted (pre-allocated but unused)</a:t>
            </a:r>
          </a:p>
          <a:p>
            <a:pPr marL="0" indent="0">
              <a:buNone/>
            </a:pPr>
            <a:r>
              <a:rPr lang="en-IN" sz="1200" b="1" dirty="0"/>
              <a:t>Problems:</a:t>
            </a:r>
            <a:endParaRPr lang="en-IN" sz="1200" dirty="0"/>
          </a:p>
          <a:p>
            <a:pPr>
              <a:spcBef>
                <a:spcPts val="100"/>
              </a:spcBef>
            </a:pPr>
            <a:r>
              <a:rPr lang="en-IN" sz="1200" b="1" dirty="0"/>
              <a:t>Internal fragmentation</a:t>
            </a:r>
            <a:r>
              <a:rPr lang="en-IN" sz="1200" dirty="0"/>
              <a:t> — memory reserved but unused within each allocation</a:t>
            </a:r>
          </a:p>
          <a:p>
            <a:pPr>
              <a:spcBef>
                <a:spcPts val="100"/>
              </a:spcBef>
            </a:pPr>
            <a:r>
              <a:rPr lang="en-IN" sz="1200" b="1" dirty="0"/>
              <a:t>External fragmentation</a:t>
            </a:r>
            <a:r>
              <a:rPr lang="en-IN" sz="1200" dirty="0"/>
              <a:t> — after many requests complete, free memory exists in scattered chunks too small for new requests</a:t>
            </a:r>
          </a:p>
          <a:p>
            <a:pPr>
              <a:spcBef>
                <a:spcPts val="100"/>
              </a:spcBef>
            </a:pPr>
            <a:r>
              <a:rPr lang="en-IN" sz="1200" b="1" dirty="0"/>
              <a:t>Low GPU utilization</a:t>
            </a:r>
            <a:r>
              <a:rPr lang="en-IN" sz="1200" dirty="0"/>
              <a:t> — studies show only 20–38% of allocated KV cache memory is actually used</a:t>
            </a:r>
          </a:p>
          <a:p>
            <a:pPr>
              <a:spcBef>
                <a:spcPts val="100"/>
              </a:spcBef>
            </a:pPr>
            <a:r>
              <a:rPr lang="en-IN" sz="1200" b="1" dirty="0"/>
              <a:t>Low concurrency</a:t>
            </a:r>
            <a:r>
              <a:rPr lang="en-IN" sz="1200" dirty="0"/>
              <a:t> — fewer requests can run simultaneously</a:t>
            </a:r>
          </a:p>
          <a:p>
            <a:endParaRPr lang="en-US" sz="1200" dirty="0"/>
          </a:p>
        </p:txBody>
      </p:sp>
      <p:pic>
        <p:nvPicPr>
          <p:cNvPr id="6" name="Picture 5">
            <a:extLst>
              <a:ext uri="{FF2B5EF4-FFF2-40B4-BE49-F238E27FC236}">
                <a16:creationId xmlns:a16="http://schemas.microsoft.com/office/drawing/2014/main" id="{E76B7EDF-FC3F-FAF9-F3B5-36F89888954F}"/>
              </a:ext>
            </a:extLst>
          </p:cNvPr>
          <p:cNvPicPr>
            <a:picLocks noChangeAspect="1"/>
          </p:cNvPicPr>
          <p:nvPr/>
        </p:nvPicPr>
        <p:blipFill>
          <a:blip r:embed="rId3"/>
          <a:stretch>
            <a:fillRect/>
          </a:stretch>
        </p:blipFill>
        <p:spPr>
          <a:xfrm>
            <a:off x="5917661" y="1846529"/>
            <a:ext cx="5973869" cy="2718108"/>
          </a:xfrm>
          <a:prstGeom prst="rect">
            <a:avLst/>
          </a:prstGeom>
        </p:spPr>
      </p:pic>
    </p:spTree>
    <p:extLst>
      <p:ext uri="{BB962C8B-B14F-4D97-AF65-F5344CB8AC3E}">
        <p14:creationId xmlns:p14="http://schemas.microsoft.com/office/powerpoint/2010/main" val="1772714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6FD6CF-53B5-9E68-2B86-CFFE1843DF1E}"/>
            </a:ext>
          </a:extLst>
        </p:cNvPr>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23FA1A-DEDD-3A1C-217F-6C4C7DB70A31}"/>
              </a:ext>
            </a:extLst>
          </p:cNvPr>
          <p:cNvSpPr>
            <a:spLocks noGrp="1"/>
          </p:cNvSpPr>
          <p:nvPr>
            <p:ph type="title"/>
          </p:nvPr>
        </p:nvSpPr>
        <p:spPr>
          <a:xfrm>
            <a:off x="572493" y="238539"/>
            <a:ext cx="11018520" cy="1434415"/>
          </a:xfrm>
        </p:spPr>
        <p:txBody>
          <a:bodyPr anchor="b">
            <a:normAutofit/>
          </a:bodyPr>
          <a:lstStyle/>
          <a:p>
            <a:r>
              <a:rPr lang="en-IN" sz="5400" b="1" dirty="0"/>
              <a:t>Paged Attention</a:t>
            </a:r>
          </a:p>
        </p:txBody>
      </p:sp>
      <p:sp>
        <p:nvSpPr>
          <p:cNvPr id="5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05A7546-9874-7DDF-72FE-2522EF119B34}"/>
              </a:ext>
            </a:extLst>
          </p:cNvPr>
          <p:cNvSpPr>
            <a:spLocks noGrp="1"/>
          </p:cNvSpPr>
          <p:nvPr>
            <p:ph idx="1"/>
          </p:nvPr>
        </p:nvSpPr>
        <p:spPr>
          <a:xfrm>
            <a:off x="572493" y="2071316"/>
            <a:ext cx="6713552" cy="4119172"/>
          </a:xfrm>
        </p:spPr>
        <p:txBody>
          <a:bodyPr anchor="t">
            <a:normAutofit/>
          </a:bodyPr>
          <a:lstStyle/>
          <a:p>
            <a:pPr marL="0" indent="0">
              <a:buNone/>
            </a:pPr>
            <a:r>
              <a:rPr lang="en-IN" sz="1500" dirty="0" err="1"/>
              <a:t>PagedAttention</a:t>
            </a:r>
            <a:r>
              <a:rPr lang="en-IN" sz="1500" dirty="0"/>
              <a:t> is inspired by </a:t>
            </a:r>
            <a:r>
              <a:rPr lang="en-IN" sz="1500" b="1" dirty="0"/>
              <a:t>OS virtual memory and paging</a:t>
            </a:r>
            <a:r>
              <a:rPr lang="en-IN" sz="1500" dirty="0"/>
              <a:t>. Instead of one giant contiguous allocation, memory is divided into small fixed-size </a:t>
            </a:r>
            <a:r>
              <a:rPr lang="en-IN" sz="1500" b="1" dirty="0"/>
              <a:t>blocks (pages)</a:t>
            </a:r>
            <a:r>
              <a:rPr lang="en-IN" sz="1500" dirty="0"/>
              <a:t>, and each request is assigned only the blocks it actually needs — allocated on demand as the sequence grows.</a:t>
            </a:r>
          </a:p>
          <a:p>
            <a:endParaRPr lang="en-IN" sz="1500" dirty="0"/>
          </a:p>
          <a:p>
            <a:pPr>
              <a:spcBef>
                <a:spcPts val="100"/>
              </a:spcBef>
            </a:pPr>
            <a:r>
              <a:rPr lang="en-IN" sz="1500" dirty="0"/>
              <a:t>OS Concept          →    </a:t>
            </a:r>
            <a:r>
              <a:rPr lang="en-IN" sz="1500" dirty="0" err="1"/>
              <a:t>PagedAttention</a:t>
            </a:r>
            <a:r>
              <a:rPr lang="en-IN" sz="1500" dirty="0"/>
              <a:t> Equivalent</a:t>
            </a:r>
          </a:p>
          <a:p>
            <a:pPr>
              <a:spcBef>
                <a:spcPts val="100"/>
              </a:spcBef>
            </a:pPr>
            <a:r>
              <a:rPr lang="en-IN" sz="1500" dirty="0"/>
              <a:t>────────────────────────────────────────────────────</a:t>
            </a:r>
          </a:p>
          <a:p>
            <a:pPr>
              <a:spcBef>
                <a:spcPts val="100"/>
              </a:spcBef>
            </a:pPr>
            <a:r>
              <a:rPr lang="en-IN" sz="1500" dirty="0"/>
              <a:t>Page                →    Block</a:t>
            </a:r>
          </a:p>
          <a:p>
            <a:pPr>
              <a:spcBef>
                <a:spcPts val="100"/>
              </a:spcBef>
            </a:pPr>
            <a:r>
              <a:rPr lang="en-IN" sz="1500" dirty="0"/>
              <a:t>Page Size           →    Block Size (N tokens per block)</a:t>
            </a:r>
          </a:p>
          <a:p>
            <a:pPr>
              <a:spcBef>
                <a:spcPts val="100"/>
              </a:spcBef>
            </a:pPr>
            <a:r>
              <a:rPr lang="en-IN" sz="1500" dirty="0"/>
              <a:t>Page Frame          →    Physical Block (in GPU VRAM)</a:t>
            </a:r>
          </a:p>
          <a:p>
            <a:pPr>
              <a:spcBef>
                <a:spcPts val="100"/>
              </a:spcBef>
            </a:pPr>
            <a:r>
              <a:rPr lang="en-IN" sz="1500" dirty="0"/>
              <a:t>Virtual Address     →    Logical Block Index</a:t>
            </a:r>
          </a:p>
          <a:p>
            <a:pPr>
              <a:spcBef>
                <a:spcPts val="100"/>
              </a:spcBef>
            </a:pPr>
            <a:r>
              <a:rPr lang="en-IN" sz="1500" dirty="0"/>
              <a:t>Page Table          →    Block Table</a:t>
            </a:r>
          </a:p>
          <a:p>
            <a:pPr>
              <a:spcBef>
                <a:spcPts val="100"/>
              </a:spcBef>
            </a:pPr>
            <a:r>
              <a:rPr lang="en-IN" sz="1500" dirty="0"/>
              <a:t>Free Page Pool      →    Free Block Pool</a:t>
            </a:r>
          </a:p>
          <a:p>
            <a:pPr>
              <a:spcBef>
                <a:spcPts val="100"/>
              </a:spcBef>
            </a:pPr>
            <a:r>
              <a:rPr lang="en-IN" sz="1500" dirty="0"/>
              <a:t>Process             →    Sequence / Request</a:t>
            </a:r>
          </a:p>
          <a:p>
            <a:pPr marL="0" indent="0">
              <a:buNone/>
            </a:pPr>
            <a:r>
              <a:rPr lang="en-IN" sz="1500" b="1" dirty="0"/>
              <a:t>Key insight:</a:t>
            </a:r>
            <a:r>
              <a:rPr lang="en-IN" sz="1500" dirty="0"/>
              <a:t> Blocks do NOT need to be contiguous in GPU memory. A sequence's logical blocks are mapped to physical blocks via a </a:t>
            </a:r>
            <a:r>
              <a:rPr lang="en-IN" sz="1500" b="1" dirty="0"/>
              <a:t>block table</a:t>
            </a:r>
            <a:r>
              <a:rPr lang="en-IN" sz="1500" dirty="0"/>
              <a:t>, just like OS virtual memory maps virtual pages to physical frames.</a:t>
            </a:r>
          </a:p>
          <a:p>
            <a:endParaRPr lang="en-US" sz="1500" dirty="0"/>
          </a:p>
        </p:txBody>
      </p:sp>
      <p:pic>
        <p:nvPicPr>
          <p:cNvPr id="4" name="Picture 3">
            <a:extLst>
              <a:ext uri="{FF2B5EF4-FFF2-40B4-BE49-F238E27FC236}">
                <a16:creationId xmlns:a16="http://schemas.microsoft.com/office/drawing/2014/main" id="{27C81F17-7F2B-2E1B-415B-A244004642BB}"/>
              </a:ext>
            </a:extLst>
          </p:cNvPr>
          <p:cNvPicPr>
            <a:picLocks noChangeAspect="1"/>
          </p:cNvPicPr>
          <p:nvPr/>
        </p:nvPicPr>
        <p:blipFill>
          <a:blip r:embed="rId3"/>
          <a:srcRect r="4" b="4635"/>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849331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5169AC-2C47-D781-9A50-107D8BB49677}"/>
            </a:ext>
          </a:extLst>
        </p:cNvPr>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E78EEA-6195-BA44-CAF4-76C87DFCE989}"/>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b="1" kern="1200">
                <a:solidFill>
                  <a:schemeClr val="tx1"/>
                </a:solidFill>
                <a:latin typeface="+mj-lt"/>
                <a:ea typeface="+mj-ea"/>
                <a:cs typeface="+mj-cs"/>
              </a:rPr>
              <a:t>Paged Attention</a:t>
            </a:r>
          </a:p>
        </p:txBody>
      </p:sp>
      <p:sp>
        <p:nvSpPr>
          <p:cNvPr id="6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4E033B2-D456-DED3-AB64-6FB101DD40DC}"/>
              </a:ext>
            </a:extLst>
          </p:cNvPr>
          <p:cNvPicPr>
            <a:picLocks noChangeAspect="1"/>
          </p:cNvPicPr>
          <p:nvPr/>
        </p:nvPicPr>
        <p:blipFill>
          <a:blip r:embed="rId3"/>
          <a:stretch>
            <a:fillRect/>
          </a:stretch>
        </p:blipFill>
        <p:spPr>
          <a:xfrm>
            <a:off x="1496587" y="2633472"/>
            <a:ext cx="9195777" cy="3586353"/>
          </a:xfrm>
          <a:prstGeom prst="rect">
            <a:avLst/>
          </a:prstGeom>
        </p:spPr>
      </p:pic>
    </p:spTree>
    <p:extLst>
      <p:ext uri="{BB962C8B-B14F-4D97-AF65-F5344CB8AC3E}">
        <p14:creationId xmlns:p14="http://schemas.microsoft.com/office/powerpoint/2010/main" val="3289011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6F6256-E725-F4F9-952F-9B7FF8928D5B}"/>
            </a:ext>
          </a:extLst>
        </p:cNvPr>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EF003C-A9FC-1466-8EA0-AB95F29DF3FC}"/>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b="1" kern="1200">
                <a:solidFill>
                  <a:schemeClr val="tx1"/>
                </a:solidFill>
                <a:latin typeface="+mj-lt"/>
                <a:ea typeface="+mj-ea"/>
                <a:cs typeface="+mj-cs"/>
              </a:rPr>
              <a:t>PagedAttention: Prompts, Tokenization &amp; Block Allocation</a:t>
            </a:r>
          </a:p>
        </p:txBody>
      </p:sp>
      <p:sp>
        <p:nvSpPr>
          <p:cNvPr id="68"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28CB561-43E4-E505-D83C-D40356F5D250}"/>
              </a:ext>
            </a:extLst>
          </p:cNvPr>
          <p:cNvPicPr>
            <a:picLocks noChangeAspect="1"/>
          </p:cNvPicPr>
          <p:nvPr/>
        </p:nvPicPr>
        <p:blipFill>
          <a:blip r:embed="rId3"/>
          <a:stretch>
            <a:fillRect/>
          </a:stretch>
        </p:blipFill>
        <p:spPr>
          <a:xfrm>
            <a:off x="320040" y="2983039"/>
            <a:ext cx="11548872" cy="2887219"/>
          </a:xfrm>
          <a:prstGeom prst="rect">
            <a:avLst/>
          </a:prstGeom>
        </p:spPr>
      </p:pic>
    </p:spTree>
    <p:extLst>
      <p:ext uri="{BB962C8B-B14F-4D97-AF65-F5344CB8AC3E}">
        <p14:creationId xmlns:p14="http://schemas.microsoft.com/office/powerpoint/2010/main" val="1426268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B6EE3E-3B36-F86B-463A-2565C9C1831E}"/>
            </a:ext>
          </a:extLst>
        </p:cNvPr>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70279A-0567-9DEA-6111-4A4A32A394E2}"/>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000" b="1" kern="1200">
                <a:solidFill>
                  <a:schemeClr val="tx1"/>
                </a:solidFill>
                <a:latin typeface="+mj-lt"/>
                <a:ea typeface="+mj-ea"/>
                <a:cs typeface="+mj-cs"/>
              </a:rPr>
              <a:t>Continuous Batching</a:t>
            </a:r>
          </a:p>
        </p:txBody>
      </p:sp>
      <p:sp>
        <p:nvSpPr>
          <p:cNvPr id="7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74F3E77-AB24-140C-0382-5B7829BB80D1}"/>
              </a:ext>
            </a:extLst>
          </p:cNvPr>
          <p:cNvSpPr txBox="1"/>
          <p:nvPr/>
        </p:nvSpPr>
        <p:spPr>
          <a:xfrm>
            <a:off x="630936" y="2807208"/>
            <a:ext cx="3429000" cy="3410712"/>
          </a:xfrm>
          <a:prstGeom prst="rect">
            <a:avLst/>
          </a:prstGeom>
        </p:spPr>
        <p:txBody>
          <a:bodyPr vert="horz" lIns="91440" tIns="45720" rIns="91440" bIns="45720" rtlCol="0" anchor="t">
            <a:normAutofit/>
          </a:bodyPr>
          <a:lstStyle/>
          <a:p>
            <a:pPr>
              <a:lnSpc>
                <a:spcPct val="90000"/>
              </a:lnSpc>
              <a:spcAft>
                <a:spcPts val="938"/>
              </a:spcAft>
            </a:pPr>
            <a:r>
              <a:rPr lang="en-US" sz="1500" b="0" i="0" dirty="0">
                <a:effectLst/>
              </a:rPr>
              <a:t>If Paged Attention improves memory efficiency, </a:t>
            </a:r>
            <a:r>
              <a:rPr lang="en-US" sz="1500" b="1" i="0" dirty="0">
                <a:effectLst/>
              </a:rPr>
              <a:t>Continuous Batching</a:t>
            </a:r>
            <a:r>
              <a:rPr lang="en-US" sz="1500" b="0" i="0" dirty="0">
                <a:effectLst/>
              </a:rPr>
              <a:t> maximizes GPU computation efficiency.</a:t>
            </a:r>
          </a:p>
          <a:p>
            <a:pPr indent="-228600">
              <a:lnSpc>
                <a:spcPct val="90000"/>
              </a:lnSpc>
              <a:spcAft>
                <a:spcPts val="938"/>
              </a:spcAft>
              <a:buFont typeface="Arial" panose="020B0604020202020204" pitchFamily="34" charset="0"/>
              <a:buChar char="•"/>
            </a:pPr>
            <a:r>
              <a:rPr lang="en-US" sz="1500" b="0" i="0" dirty="0">
                <a:effectLst/>
              </a:rPr>
              <a:t>Traditional batch inference:</a:t>
            </a:r>
          </a:p>
          <a:p>
            <a:pPr indent="-228600">
              <a:lnSpc>
                <a:spcPct val="90000"/>
              </a:lnSpc>
              <a:spcAft>
                <a:spcPts val="938"/>
              </a:spcAft>
              <a:buFont typeface="Arial" panose="020B0604020202020204" pitchFamily="34" charset="0"/>
              <a:buChar char="•"/>
            </a:pPr>
            <a:r>
              <a:rPr lang="en-US" sz="1500" b="0" i="0" dirty="0">
                <a:effectLst/>
              </a:rPr>
              <a:t>Collect requests → form a batch → process the entire batch → then move to the next batch But LLM requests differ in completion time (due to different output lengths). Thus, while a slow request continues, faster requests </a:t>
            </a:r>
            <a:r>
              <a:rPr lang="en-US" sz="1500" b="1" i="0" dirty="0">
                <a:effectLst/>
              </a:rPr>
              <a:t>remain stuck waiting</a:t>
            </a:r>
            <a:r>
              <a:rPr lang="en-US" sz="1500" b="0" i="0" dirty="0">
                <a:effectLst/>
              </a:rPr>
              <a:t>, wasting GPU compute capacity.</a:t>
            </a:r>
          </a:p>
        </p:txBody>
      </p:sp>
      <p:pic>
        <p:nvPicPr>
          <p:cNvPr id="6" name="Picture 5">
            <a:extLst>
              <a:ext uri="{FF2B5EF4-FFF2-40B4-BE49-F238E27FC236}">
                <a16:creationId xmlns:a16="http://schemas.microsoft.com/office/drawing/2014/main" id="{03002B1A-8649-3968-9123-7D1FED715BA4}"/>
              </a:ext>
            </a:extLst>
          </p:cNvPr>
          <p:cNvPicPr>
            <a:picLocks noChangeAspect="1"/>
          </p:cNvPicPr>
          <p:nvPr/>
        </p:nvPicPr>
        <p:blipFill>
          <a:blip r:embed="rId3"/>
          <a:stretch>
            <a:fillRect/>
          </a:stretch>
        </p:blipFill>
        <p:spPr>
          <a:xfrm>
            <a:off x="4654296" y="1944700"/>
            <a:ext cx="6903720" cy="2968600"/>
          </a:xfrm>
          <a:prstGeom prst="rect">
            <a:avLst/>
          </a:prstGeom>
        </p:spPr>
      </p:pic>
    </p:spTree>
    <p:extLst>
      <p:ext uri="{BB962C8B-B14F-4D97-AF65-F5344CB8AC3E}">
        <p14:creationId xmlns:p14="http://schemas.microsoft.com/office/powerpoint/2010/main" val="3911955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1BA401-DB5F-9955-0BB0-A83AE286F97E}"/>
            </a:ext>
          </a:extLst>
        </p:cNvPr>
        <p:cNvGrpSpPr/>
        <p:nvPr/>
      </p:nvGrpSpPr>
      <p:grpSpPr>
        <a:xfrm>
          <a:off x="0" y="0"/>
          <a:ext cx="0" cy="0"/>
          <a:chOff x="0" y="0"/>
          <a:chExt cx="0" cy="0"/>
        </a:xfrm>
      </p:grpSpPr>
      <p:sp useBgFill="1">
        <p:nvSpPr>
          <p:cNvPr id="91" name="Rectangle 9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CA99BA-DC6D-6483-485B-185D3D2C88B9}"/>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000" b="1" kern="1200">
                <a:solidFill>
                  <a:schemeClr val="tx1"/>
                </a:solidFill>
                <a:latin typeface="+mj-lt"/>
                <a:ea typeface="+mj-ea"/>
                <a:cs typeface="+mj-cs"/>
              </a:rPr>
              <a:t>Continuous Batching</a:t>
            </a:r>
          </a:p>
        </p:txBody>
      </p:sp>
      <p:sp>
        <p:nvSpPr>
          <p:cNvPr id="9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E969908-12E1-30A8-6339-406D2D3F55FB}"/>
              </a:ext>
            </a:extLst>
          </p:cNvPr>
          <p:cNvSpPr txBox="1"/>
          <p:nvPr/>
        </p:nvSpPr>
        <p:spPr>
          <a:xfrm>
            <a:off x="630936" y="2807208"/>
            <a:ext cx="4931664" cy="3411272"/>
          </a:xfrm>
          <a:prstGeom prst="rect">
            <a:avLst/>
          </a:prstGeom>
        </p:spPr>
        <p:txBody>
          <a:bodyPr vert="horz" lIns="91440" tIns="45720" rIns="91440" bIns="45720" rtlCol="0" anchor="t">
            <a:noAutofit/>
          </a:bodyPr>
          <a:lstStyle/>
          <a:p>
            <a:pPr indent="-228600">
              <a:lnSpc>
                <a:spcPct val="90000"/>
              </a:lnSpc>
              <a:spcAft>
                <a:spcPts val="600"/>
              </a:spcAft>
              <a:buFont typeface="Arial" panose="020B0604020202020204" pitchFamily="34" charset="0"/>
              <a:buChar char="•"/>
            </a:pPr>
            <a:r>
              <a:rPr lang="en-US" sz="1200" dirty="0"/>
              <a:t>Continuous Batching breaks the process into </a:t>
            </a:r>
            <a:r>
              <a:rPr lang="en-US" sz="1200" b="1" dirty="0"/>
              <a:t>token-generation iterations</a:t>
            </a:r>
            <a:r>
              <a:rPr lang="en-US" sz="1200" dirty="0"/>
              <a:t>. After each iteration:</a:t>
            </a:r>
          </a:p>
          <a:p>
            <a:pPr indent="-228600">
              <a:lnSpc>
                <a:spcPct val="90000"/>
              </a:lnSpc>
              <a:spcAft>
                <a:spcPts val="600"/>
              </a:spcAft>
              <a:buFont typeface="Arial" panose="020B0604020202020204" pitchFamily="34" charset="0"/>
              <a:buChar char="•"/>
            </a:pPr>
            <a:r>
              <a:rPr lang="en-US" sz="1200" dirty="0"/>
              <a:t>Finished requests exit the batch immediately</a:t>
            </a:r>
          </a:p>
          <a:p>
            <a:pPr indent="-228600">
              <a:lnSpc>
                <a:spcPct val="90000"/>
              </a:lnSpc>
              <a:spcAft>
                <a:spcPts val="600"/>
              </a:spcAft>
              <a:buFont typeface="Arial" panose="020B0604020202020204" pitchFamily="34" charset="0"/>
              <a:buChar char="•"/>
            </a:pPr>
            <a:r>
              <a:rPr lang="en-US" sz="1200" dirty="0"/>
              <a:t>Newly arrived requests join the batch instantly</a:t>
            </a:r>
          </a:p>
          <a:p>
            <a:pPr indent="-228600">
              <a:lnSpc>
                <a:spcPct val="90000"/>
              </a:lnSpc>
              <a:spcAft>
                <a:spcPts val="600"/>
              </a:spcAft>
              <a:buFont typeface="Arial" panose="020B0604020202020204" pitchFamily="34" charset="0"/>
              <a:buChar char="•"/>
            </a:pPr>
            <a:r>
              <a:rPr lang="en-US" sz="1200" dirty="0"/>
              <a:t>This makes the batch a </a:t>
            </a:r>
            <a:r>
              <a:rPr lang="en-US" sz="1200" b="1" dirty="0"/>
              <a:t>continuously updating structure</a:t>
            </a:r>
            <a:r>
              <a:rPr lang="en-US" sz="1200" dirty="0"/>
              <a:t> rather than a fixed one.</a:t>
            </a:r>
          </a:p>
          <a:p>
            <a:pPr indent="-228600">
              <a:lnSpc>
                <a:spcPct val="90000"/>
              </a:lnSpc>
              <a:spcAft>
                <a:spcPts val="600"/>
              </a:spcAft>
              <a:buFont typeface="Arial" panose="020B0604020202020204" pitchFamily="34" charset="0"/>
              <a:buChar char="•"/>
            </a:pPr>
            <a:endParaRPr lang="en-US" sz="1200" dirty="0"/>
          </a:p>
          <a:p>
            <a:pPr indent="-228600">
              <a:lnSpc>
                <a:spcPct val="90000"/>
              </a:lnSpc>
              <a:spcAft>
                <a:spcPts val="600"/>
              </a:spcAft>
              <a:buFont typeface="Arial" panose="020B0604020202020204" pitchFamily="34" charset="0"/>
              <a:buChar char="•"/>
            </a:pPr>
            <a:r>
              <a:rPr lang="en-US" sz="1200" dirty="0"/>
              <a:t>This reduces GPU idle time and allows </a:t>
            </a:r>
            <a:r>
              <a:rPr lang="en-US" sz="1200" b="1" dirty="0"/>
              <a:t>far more requests</a:t>
            </a:r>
            <a:r>
              <a:rPr lang="en-US" sz="1200" dirty="0"/>
              <a:t> to be processed within the same timeframe. In particular, for environments with many short requests mixed with long ones, user-perceived latency improves dramatically.</a:t>
            </a:r>
          </a:p>
          <a:p>
            <a:pPr indent="-228600">
              <a:lnSpc>
                <a:spcPct val="90000"/>
              </a:lnSpc>
              <a:spcAft>
                <a:spcPts val="600"/>
              </a:spcAft>
              <a:buFont typeface="Arial" panose="020B0604020202020204" pitchFamily="34" charset="0"/>
              <a:buChar char="•"/>
            </a:pPr>
            <a:r>
              <a:rPr lang="en-US" sz="1200" dirty="0"/>
              <a:t>With:</a:t>
            </a:r>
          </a:p>
          <a:p>
            <a:pPr indent="-228600">
              <a:lnSpc>
                <a:spcPct val="90000"/>
              </a:lnSpc>
              <a:spcAft>
                <a:spcPts val="600"/>
              </a:spcAft>
              <a:buFont typeface="Arial" panose="020B0604020202020204" pitchFamily="34" charset="0"/>
              <a:buChar char="•"/>
            </a:pPr>
            <a:endParaRPr lang="en-US" sz="1200" dirty="0"/>
          </a:p>
          <a:p>
            <a:pPr indent="-228600">
              <a:lnSpc>
                <a:spcPct val="90000"/>
              </a:lnSpc>
              <a:spcAft>
                <a:spcPts val="600"/>
              </a:spcAft>
              <a:buFont typeface="Arial" panose="020B0604020202020204" pitchFamily="34" charset="0"/>
              <a:buChar char="•"/>
            </a:pPr>
            <a:r>
              <a:rPr lang="en-US" sz="1200" b="1" dirty="0"/>
              <a:t>Paged Attention → efficient memory use</a:t>
            </a:r>
            <a:r>
              <a:rPr lang="en-US" sz="1200" dirty="0"/>
              <a:t>, and</a:t>
            </a:r>
          </a:p>
          <a:p>
            <a:pPr indent="-228600">
              <a:lnSpc>
                <a:spcPct val="90000"/>
              </a:lnSpc>
              <a:spcAft>
                <a:spcPts val="600"/>
              </a:spcAft>
              <a:buFont typeface="Arial" panose="020B0604020202020204" pitchFamily="34" charset="0"/>
              <a:buChar char="•"/>
            </a:pPr>
            <a:r>
              <a:rPr lang="en-US" sz="1200" b="1" dirty="0"/>
              <a:t>Continuous Batching → maximal compute utilization</a:t>
            </a:r>
            <a:r>
              <a:rPr lang="en-US" sz="1200" dirty="0"/>
              <a:t>,</a:t>
            </a:r>
          </a:p>
          <a:p>
            <a:pPr indent="-228600">
              <a:lnSpc>
                <a:spcPct val="90000"/>
              </a:lnSpc>
              <a:spcAft>
                <a:spcPts val="600"/>
              </a:spcAft>
              <a:buFont typeface="Arial" panose="020B0604020202020204" pitchFamily="34" charset="0"/>
              <a:buChar char="•"/>
            </a:pPr>
            <a:endParaRPr lang="en-US" sz="1200" dirty="0"/>
          </a:p>
        </p:txBody>
      </p:sp>
      <p:pic>
        <p:nvPicPr>
          <p:cNvPr id="3" name="Picture 2">
            <a:extLst>
              <a:ext uri="{FF2B5EF4-FFF2-40B4-BE49-F238E27FC236}">
                <a16:creationId xmlns:a16="http://schemas.microsoft.com/office/drawing/2014/main" id="{D835F546-05D8-A20B-0A29-61705D45A394}"/>
              </a:ext>
            </a:extLst>
          </p:cNvPr>
          <p:cNvPicPr>
            <a:picLocks noChangeAspect="1"/>
          </p:cNvPicPr>
          <p:nvPr/>
        </p:nvPicPr>
        <p:blipFill>
          <a:blip r:embed="rId3"/>
          <a:stretch>
            <a:fillRect/>
          </a:stretch>
        </p:blipFill>
        <p:spPr>
          <a:xfrm>
            <a:off x="5816600" y="1953330"/>
            <a:ext cx="5741416" cy="2454456"/>
          </a:xfrm>
          <a:prstGeom prst="rect">
            <a:avLst/>
          </a:prstGeom>
        </p:spPr>
      </p:pic>
    </p:spTree>
    <p:extLst>
      <p:ext uri="{BB962C8B-B14F-4D97-AF65-F5344CB8AC3E}">
        <p14:creationId xmlns:p14="http://schemas.microsoft.com/office/powerpoint/2010/main" val="2421950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140342-81B1-8651-BE9F-4BEAAACB35A8}"/>
            </a:ext>
          </a:extLst>
        </p:cNvPr>
        <p:cNvGrpSpPr/>
        <p:nvPr/>
      </p:nvGrpSpPr>
      <p:grpSpPr>
        <a:xfrm>
          <a:off x="0" y="0"/>
          <a:ext cx="0" cy="0"/>
          <a:chOff x="0" y="0"/>
          <a:chExt cx="0" cy="0"/>
        </a:xfrm>
      </p:grpSpPr>
      <p:sp useBgFill="1">
        <p:nvSpPr>
          <p:cNvPr id="101" name="Rectangle 100">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1CBF9E-9FC5-134B-9AAE-546D0131AF9F}"/>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b="1" kern="1200">
                <a:solidFill>
                  <a:schemeClr val="tx1"/>
                </a:solidFill>
                <a:latin typeface="+mj-lt"/>
                <a:ea typeface="+mj-ea"/>
                <a:cs typeface="+mj-cs"/>
              </a:rPr>
              <a:t>Continuous Batching</a:t>
            </a:r>
          </a:p>
        </p:txBody>
      </p:sp>
      <p:sp>
        <p:nvSpPr>
          <p:cNvPr id="102"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2ACFC46-604D-AE15-3BD3-44429860C148}"/>
              </a:ext>
            </a:extLst>
          </p:cNvPr>
          <p:cNvPicPr>
            <a:picLocks noChangeAspect="1"/>
          </p:cNvPicPr>
          <p:nvPr/>
        </p:nvPicPr>
        <p:blipFill>
          <a:blip r:embed="rId3"/>
          <a:stretch>
            <a:fillRect/>
          </a:stretch>
        </p:blipFill>
        <p:spPr>
          <a:xfrm>
            <a:off x="385406" y="1818226"/>
            <a:ext cx="11421187" cy="4482814"/>
          </a:xfrm>
          <a:prstGeom prst="rect">
            <a:avLst/>
          </a:prstGeom>
        </p:spPr>
      </p:pic>
    </p:spTree>
    <p:extLst>
      <p:ext uri="{BB962C8B-B14F-4D97-AF65-F5344CB8AC3E}">
        <p14:creationId xmlns:p14="http://schemas.microsoft.com/office/powerpoint/2010/main" val="6115917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456</TotalTime>
  <Words>1635</Words>
  <Application>Microsoft Macintosh PowerPoint</Application>
  <PresentationFormat>Widescreen</PresentationFormat>
  <Paragraphs>134</Paragraphs>
  <Slides>13</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LLM Inference at Scale</vt:lpstr>
      <vt:lpstr>Session Overview</vt:lpstr>
      <vt:lpstr>What and Why of vLLM ?</vt:lpstr>
      <vt:lpstr>The Journey of Prompt</vt:lpstr>
      <vt:lpstr>KV Cache &amp; PagedAttention</vt:lpstr>
      <vt:lpstr>What is KV Cache?</vt:lpstr>
      <vt:lpstr>Problem of traditional  KV Cache!</vt:lpstr>
      <vt:lpstr>Paged Attention</vt:lpstr>
      <vt:lpstr>Paged Attention</vt:lpstr>
      <vt:lpstr>PagedAttention: Prompts, Tokenization &amp; Block Allocation</vt:lpstr>
      <vt:lpstr>Continuous Batching</vt:lpstr>
      <vt:lpstr>Continuous Batching</vt:lpstr>
      <vt:lpstr>Continuous Batching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Mantha, Pavan</dc:creator>
  <cp:lastModifiedBy>Mantha, Pavan</cp:lastModifiedBy>
  <cp:revision>7</cp:revision>
  <dcterms:created xsi:type="dcterms:W3CDTF">2026-05-09T12:21:52Z</dcterms:created>
  <dcterms:modified xsi:type="dcterms:W3CDTF">2026-05-09T19:58:12Z</dcterms:modified>
</cp:coreProperties>
</file>